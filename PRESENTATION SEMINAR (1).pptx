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1" r:id="rId3"/>
    <p:sldId id="284" r:id="rId4"/>
    <p:sldId id="285" r:id="rId5"/>
    <p:sldId id="286" r:id="rId6"/>
    <p:sldId id="306" r:id="rId7"/>
    <p:sldId id="311" r:id="rId8"/>
    <p:sldId id="307" r:id="rId9"/>
    <p:sldId id="308" r:id="rId10"/>
    <p:sldId id="287" r:id="rId11"/>
    <p:sldId id="288" r:id="rId12"/>
    <p:sldId id="296" r:id="rId13"/>
    <p:sldId id="310" r:id="rId14"/>
    <p:sldId id="309" r:id="rId15"/>
    <p:sldId id="297" r:id="rId16"/>
    <p:sldId id="298" r:id="rId17"/>
    <p:sldId id="312" r:id="rId18"/>
    <p:sldId id="305"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5033" autoAdjust="0"/>
  </p:normalViewPr>
  <p:slideViewPr>
    <p:cSldViewPr>
      <p:cViewPr varScale="1">
        <p:scale>
          <a:sx n="82" d="100"/>
          <a:sy n="82" d="100"/>
        </p:scale>
        <p:origin x="1498" y="6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p:txBody>
          <a:bodyPr lIns="0" tIns="0" rIns="0" bIns="0"/>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1">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p:txBody>
          <a:bodyPr lIns="0" tIns="0" rIns="0" bIns="0"/>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1">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7" name="Holder 7"/>
          <p:cNvSpPr>
            <a:spLocks noGrp="1"/>
          </p:cNvSpPr>
          <p:nvPr>
            <p:ph type="sldNum" sz="quarter" idx="7"/>
          </p:nvPr>
        </p:nvSpPr>
        <p:spPr/>
        <p:txBody>
          <a:bodyPr lIns="0" tIns="0" rIns="0" bIns="0"/>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1">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5" name="Holder 5"/>
          <p:cNvSpPr>
            <a:spLocks noGrp="1"/>
          </p:cNvSpPr>
          <p:nvPr>
            <p:ph type="sldNum" sz="quarter" idx="7"/>
          </p:nvPr>
        </p:nvSpPr>
        <p:spPr/>
        <p:txBody>
          <a:bodyPr lIns="0" tIns="0" rIns="0" bIns="0"/>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1/5/2026</a:t>
            </a:fld>
            <a:endParaRPr lang="en-US"/>
          </a:p>
        </p:txBody>
      </p:sp>
      <p:sp>
        <p:nvSpPr>
          <p:cNvPr id="4" name="Holder 4"/>
          <p:cNvSpPr>
            <a:spLocks noGrp="1"/>
          </p:cNvSpPr>
          <p:nvPr>
            <p:ph type="sldNum" sz="quarter" idx="7"/>
          </p:nvPr>
        </p:nvSpPr>
        <p:spPr/>
        <p:txBody>
          <a:bodyPr lIns="0" tIns="0" rIns="0" bIns="0"/>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0990" y="16256"/>
            <a:ext cx="8542019" cy="299720"/>
          </a:xfrm>
          <a:prstGeom prst="rect">
            <a:avLst/>
          </a:prstGeom>
        </p:spPr>
        <p:txBody>
          <a:bodyPr wrap="square" lIns="0" tIns="0" rIns="0" bIns="0">
            <a:spAutoFit/>
          </a:bodyPr>
          <a:lstStyle>
            <a:lvl1pPr>
              <a:defRPr sz="1800" b="1" i="1">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70755" y="1241838"/>
            <a:ext cx="8202489" cy="1854200"/>
          </a:xfrm>
          <a:prstGeom prst="rect">
            <a:avLst/>
          </a:prstGeom>
        </p:spPr>
        <p:txBody>
          <a:bodyPr wrap="square" lIns="0" tIns="0" rIns="0" bIns="0">
            <a:spAutoFit/>
          </a:bodyPr>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1/5/2026</a:t>
            </a:fld>
            <a:endParaRPr lang="en-US"/>
          </a:p>
        </p:txBody>
      </p:sp>
      <p:sp>
        <p:nvSpPr>
          <p:cNvPr id="6" name="Holder 6"/>
          <p:cNvSpPr>
            <a:spLocks noGrp="1"/>
          </p:cNvSpPr>
          <p:nvPr>
            <p:ph type="sldNum" sz="quarter" idx="7"/>
          </p:nvPr>
        </p:nvSpPr>
        <p:spPr>
          <a:xfrm>
            <a:off x="8209198" y="6432455"/>
            <a:ext cx="429259" cy="153670"/>
          </a:xfrm>
          <a:prstGeom prst="rect">
            <a:avLst/>
          </a:prstGeom>
        </p:spPr>
        <p:txBody>
          <a:bodyPr wrap="square" lIns="0" tIns="0" rIns="0" bIns="0">
            <a:spAutoFit/>
          </a:bodyPr>
          <a:lstStyle>
            <a:lvl1pPr>
              <a:defRPr sz="900" b="0" i="0">
                <a:solidFill>
                  <a:srgbClr val="CCCCCC"/>
                </a:solidFill>
                <a:latin typeface="Arial MT"/>
                <a:cs typeface="Arial MT"/>
              </a:defRPr>
            </a:lvl1pPr>
          </a:lstStyle>
          <a:p>
            <a:pPr marL="12700">
              <a:lnSpc>
                <a:spcPct val="100000"/>
              </a:lnSpc>
              <a:spcBef>
                <a:spcPts val="15"/>
              </a:spcBef>
            </a:pPr>
            <a:r>
              <a:rPr spc="-5" dirty="0"/>
              <a:t>Side</a:t>
            </a:r>
            <a:r>
              <a:rPr spc="-55" dirty="0"/>
              <a:t> </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5.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cpcb.nic.in/"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moef.gov.in/"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www.epa.gov/" TargetMode="External"/><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hyperlink" Target="https://www.iea.or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object 2"/>
          <p:cNvSpPr txBox="1"/>
          <p:nvPr/>
        </p:nvSpPr>
        <p:spPr>
          <a:xfrm>
            <a:off x="1600201" y="93569"/>
            <a:ext cx="7904190" cy="289823"/>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t>
            </a:r>
            <a:r>
              <a:rPr lang="en-IN" sz="1800" b="1" i="1" spc="-5" dirty="0">
                <a:latin typeface="Times New Roman"/>
                <a:cs typeface="Times New Roman"/>
              </a:rPr>
              <a:t>a</a:t>
            </a:r>
            <a:r>
              <a:rPr sz="1800" b="1" i="1" spc="-5" dirty="0">
                <a:latin typeface="Times New Roman"/>
                <a:cs typeface="Times New Roman"/>
              </a:rPr>
              <a:t>vi</a:t>
            </a:r>
            <a:r>
              <a:rPr lang="en-IN" b="1" i="1" spc="-5" dirty="0">
                <a:latin typeface="Times New Roman"/>
                <a:cs typeface="Times New Roman"/>
              </a:rPr>
              <a:t>ya</a:t>
            </a:r>
            <a:r>
              <a:rPr sz="1800" b="1" i="1" spc="-5" dirty="0">
                <a:latin typeface="Times New Roman"/>
                <a:cs typeface="Times New Roman"/>
              </a:rPr>
              <a:t> </a:t>
            </a:r>
            <a:r>
              <a:rPr sz="1800" b="1" i="1" spc="-20" dirty="0">
                <a:latin typeface="Times New Roman"/>
                <a:cs typeface="Times New Roman"/>
              </a:rPr>
              <a:t>Univ</a:t>
            </a:r>
            <a:r>
              <a:rPr lang="en-US" sz="1800" b="1" i="1" spc="-20" dirty="0">
                <a:latin typeface="Times New Roman"/>
                <a:cs typeface="Times New Roman"/>
              </a:rPr>
              <a:t>ersity</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p:cNvGrpSpPr/>
          <p:nvPr/>
        </p:nvGrpSpPr>
        <p:grpSpPr>
          <a:xfrm>
            <a:off x="-34636" y="15640"/>
            <a:ext cx="9001125" cy="900000"/>
            <a:chOff x="0" y="0"/>
            <a:chExt cx="9001125" cy="900000"/>
          </a:xfrm>
        </p:grpSpPr>
        <p:sp>
          <p:nvSpPr>
            <p:cNvPr id="4" name="object 4"/>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0" y="0"/>
              <a:ext cx="900111" cy="900000"/>
            </a:xfrm>
            <a:prstGeom prst="rect">
              <a:avLst/>
            </a:prstGeom>
          </p:spPr>
        </p:pic>
      </p:grpSp>
      <p:sp>
        <p:nvSpPr>
          <p:cNvPr id="6" name="object 6"/>
          <p:cNvSpPr/>
          <p:nvPr/>
        </p:nvSpPr>
        <p:spPr>
          <a:xfrm>
            <a:off x="0" y="6357937"/>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a:p>
        </p:txBody>
      </p:sp>
      <p:sp>
        <p:nvSpPr>
          <p:cNvPr id="7" name="object 7"/>
          <p:cNvSpPr txBox="1">
            <a:spLocks noGrp="1"/>
          </p:cNvSpPr>
          <p:nvPr>
            <p:ph type="title"/>
          </p:nvPr>
        </p:nvSpPr>
        <p:spPr>
          <a:xfrm>
            <a:off x="1004834" y="519671"/>
            <a:ext cx="7239000" cy="2228815"/>
          </a:xfrm>
          <a:prstGeom prst="rect">
            <a:avLst/>
          </a:prstGeom>
        </p:spPr>
        <p:txBody>
          <a:bodyPr vert="horz" wrap="square" lIns="0" tIns="12700" rIns="0" bIns="0" rtlCol="0">
            <a:spAutoFit/>
          </a:bodyPr>
          <a:lstStyle/>
          <a:p>
            <a:pPr marL="12700" algn="ctr">
              <a:lnSpc>
                <a:spcPct val="100000"/>
              </a:lnSpc>
              <a:spcBef>
                <a:spcPts val="100"/>
              </a:spcBef>
            </a:pPr>
            <a:r>
              <a:rPr lang="en-US" sz="2400" i="0" spc="-5" dirty="0">
                <a:latin typeface="Times New Roman" panose="02020603050405020304" pitchFamily="18" charset="0"/>
                <a:cs typeface="Times New Roman" panose="02020603050405020304" pitchFamily="18" charset="0"/>
              </a:rPr>
              <a:t>A Seminar Presentation </a:t>
            </a:r>
            <a:br>
              <a:rPr lang="en-US" sz="2400" i="0" spc="-5" dirty="0">
                <a:latin typeface="Times New Roman" panose="02020603050405020304" pitchFamily="18" charset="0"/>
                <a:cs typeface="Times New Roman" panose="02020603050405020304" pitchFamily="18" charset="0"/>
              </a:rPr>
            </a:br>
            <a:r>
              <a:rPr lang="en-US" sz="2400" i="0" spc="-5" dirty="0">
                <a:latin typeface="Times New Roman" panose="02020603050405020304" pitchFamily="18" charset="0"/>
                <a:cs typeface="Times New Roman" panose="02020603050405020304" pitchFamily="18" charset="0"/>
              </a:rPr>
              <a:t>on</a:t>
            </a:r>
            <a:br>
              <a:rPr lang="en-US" sz="2400" i="0" spc="-5" dirty="0">
                <a:solidFill>
                  <a:srgbClr val="990000"/>
                </a:solidFill>
                <a:latin typeface="Times New Roman" panose="02020603050405020304" pitchFamily="18" charset="0"/>
                <a:cs typeface="Times New Roman" panose="02020603050405020304" pitchFamily="18" charset="0"/>
              </a:rPr>
            </a:br>
            <a:r>
              <a:rPr lang="en-US" sz="3200" i="0" spc="-5" dirty="0">
                <a:solidFill>
                  <a:srgbClr val="0070C0"/>
                </a:solidFill>
                <a:latin typeface="Times New Roman" panose="02020603050405020304" pitchFamily="18" charset="0"/>
                <a:cs typeface="Times New Roman" panose="02020603050405020304" pitchFamily="18" charset="0"/>
              </a:rPr>
              <a:t>EMISSION OF FLUE GASES IN THERMAL POWWR PLANT</a:t>
            </a:r>
            <a:br>
              <a:rPr lang="en-US" sz="3200" i="0" spc="-5" dirty="0">
                <a:solidFill>
                  <a:srgbClr val="0070C0"/>
                </a:solidFill>
                <a:latin typeface="Times New Roman" panose="02020603050405020304" pitchFamily="18" charset="0"/>
                <a:cs typeface="Times New Roman" panose="02020603050405020304" pitchFamily="18" charset="0"/>
              </a:rPr>
            </a:br>
            <a:endParaRPr sz="3200" dirty="0">
              <a:solidFill>
                <a:srgbClr val="0070C0"/>
              </a:solidFill>
              <a:latin typeface="Times New Roman" panose="02020603050405020304" pitchFamily="18" charset="0"/>
              <a:cs typeface="Times New Roman" panose="02020603050405020304" pitchFamily="18" charset="0"/>
            </a:endParaRPr>
          </a:p>
        </p:txBody>
      </p:sp>
      <p:sp>
        <p:nvSpPr>
          <p:cNvPr id="9" name="object 9"/>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a:latin typeface="Arial MT"/>
              <a:cs typeface="Arial MT"/>
            </a:endParaRPr>
          </a:p>
        </p:txBody>
      </p:sp>
      <p:sp>
        <p:nvSpPr>
          <p:cNvPr id="10" name="object 10"/>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spc="-5" dirty="0"/>
              <a:t>Side</a:t>
            </a:r>
            <a:r>
              <a:rPr spc="-55" dirty="0"/>
              <a:t> </a:t>
            </a:r>
            <a:fld id="{81D60167-4931-47E6-BA6A-407CBD079E47}" type="slidenum">
              <a:rPr dirty="0"/>
              <a:t>1</a:t>
            </a:fld>
            <a:endParaRPr dirty="0"/>
          </a:p>
        </p:txBody>
      </p:sp>
      <p:sp>
        <p:nvSpPr>
          <p:cNvPr id="8" name="object 8"/>
          <p:cNvSpPr txBox="1"/>
          <p:nvPr/>
        </p:nvSpPr>
        <p:spPr>
          <a:xfrm>
            <a:off x="-34636" y="1789670"/>
            <a:ext cx="9178636" cy="4390946"/>
          </a:xfrm>
          <a:prstGeom prst="rect">
            <a:avLst/>
          </a:prstGeom>
          <a:ln>
            <a:noFill/>
          </a:ln>
        </p:spPr>
        <p:txBody>
          <a:bodyPr vert="horz" wrap="square" lIns="0" tIns="12700" rIns="0" bIns="0" rtlCol="0">
            <a:spAutoFit/>
          </a:bodyPr>
          <a:lstStyle/>
          <a:p>
            <a:pPr marL="164465" marR="169545" indent="1844675" algn="just">
              <a:spcBef>
                <a:spcPts val="100"/>
              </a:spcBef>
            </a:pPr>
            <a:r>
              <a:rPr lang="en-US" sz="2800" b="1" i="1" spc="20" dirty="0">
                <a:solidFill>
                  <a:srgbClr val="00B050"/>
                </a:solidFill>
                <a:latin typeface="Times New Roman" panose="02020603050405020304" pitchFamily="18" charset="0"/>
                <a:cs typeface="Times New Roman" panose="02020603050405020304" pitchFamily="18" charset="0"/>
              </a:rPr>
              <a:t>                   </a:t>
            </a:r>
            <a:endParaRPr lang="en-US" sz="2400" b="1" i="1" spc="20" dirty="0">
              <a:latin typeface="Times New Roman" panose="02020603050405020304" pitchFamily="18" charset="0"/>
              <a:cs typeface="Times New Roman" panose="02020603050405020304" pitchFamily="18" charset="0"/>
            </a:endParaRPr>
          </a:p>
          <a:p>
            <a:pPr marL="164465" marR="169545" indent="1844675">
              <a:spcBef>
                <a:spcPts val="100"/>
              </a:spcBef>
            </a:pPr>
            <a:r>
              <a:rPr lang="en-US" sz="2400" b="1" i="1" spc="20" dirty="0">
                <a:solidFill>
                  <a:srgbClr val="00B050"/>
                </a:solidFill>
                <a:latin typeface="Times New Roman" panose="02020603050405020304" pitchFamily="18" charset="0"/>
                <a:cs typeface="Times New Roman" panose="02020603050405020304" pitchFamily="18" charset="0"/>
              </a:rPr>
              <a:t>                   </a:t>
            </a:r>
            <a:r>
              <a:rPr lang="en-US" sz="2400" b="1" i="1" spc="20" dirty="0">
                <a:latin typeface="Times New Roman" panose="02020603050405020304" pitchFamily="18" charset="0"/>
                <a:cs typeface="Times New Roman" panose="02020603050405020304" pitchFamily="18" charset="0"/>
              </a:rPr>
              <a:t>Represented by:- </a:t>
            </a:r>
          </a:p>
          <a:p>
            <a:pPr marL="164465" marR="169545" indent="1844675">
              <a:spcBef>
                <a:spcPts val="100"/>
              </a:spcBef>
            </a:pPr>
            <a:r>
              <a:rPr lang="en-US" sz="2400" b="1" i="1" spc="20" dirty="0">
                <a:solidFill>
                  <a:srgbClr val="00B050"/>
                </a:solidFill>
                <a:latin typeface="Times New Roman" panose="02020603050405020304" pitchFamily="18" charset="0"/>
                <a:cs typeface="Times New Roman" panose="02020603050405020304" pitchFamily="18" charset="0"/>
              </a:rPr>
              <a:t>                       </a:t>
            </a:r>
            <a:r>
              <a:rPr lang="en-US" sz="2400" b="1" i="1" spc="20" dirty="0">
                <a:latin typeface="Times New Roman" panose="02020603050405020304" pitchFamily="18" charset="0"/>
                <a:cs typeface="Times New Roman" panose="02020603050405020304" pitchFamily="18" charset="0"/>
              </a:rPr>
              <a:t>SHIVAM</a:t>
            </a:r>
            <a:endParaRPr lang="en-US" sz="2400" b="1" spc="20" dirty="0">
              <a:latin typeface="Times New Roman" panose="02020603050405020304" pitchFamily="18" charset="0"/>
              <a:cs typeface="Times New Roman" panose="02020603050405020304" pitchFamily="18" charset="0"/>
            </a:endParaRPr>
          </a:p>
          <a:p>
            <a:pPr marL="164465" marR="169545" indent="1844675" algn="just">
              <a:spcBef>
                <a:spcPts val="100"/>
              </a:spcBef>
            </a:pPr>
            <a:r>
              <a:rPr lang="en-US" sz="2400" b="1" i="1" spc="20" dirty="0">
                <a:latin typeface="Times New Roman" panose="02020603050405020304" pitchFamily="18" charset="0"/>
                <a:cs typeface="Times New Roman" panose="02020603050405020304" pitchFamily="18" charset="0"/>
              </a:rPr>
              <a:t>              (Roll no:2023051069)      </a:t>
            </a:r>
          </a:p>
          <a:p>
            <a:pPr marL="164465" marR="169545" indent="1844675" algn="just">
              <a:spcBef>
                <a:spcPts val="100"/>
              </a:spcBef>
            </a:pPr>
            <a:r>
              <a:rPr lang="en-US" sz="2400" b="1" spc="10" dirty="0">
                <a:latin typeface="Times New Roman" panose="02020603050405020304" pitchFamily="18" charset="0"/>
                <a:cs typeface="Times New Roman" panose="02020603050405020304" pitchFamily="18" charset="0"/>
              </a:rPr>
              <a:t>     </a:t>
            </a:r>
            <a:endParaRPr lang="en-US" sz="2800" b="1" i="1" spc="20" dirty="0">
              <a:solidFill>
                <a:srgbClr val="FF0000"/>
              </a:solidFill>
              <a:latin typeface="Times New Roman" panose="02020603050405020304" pitchFamily="18" charset="0"/>
              <a:cs typeface="Times New Roman" panose="02020603050405020304" pitchFamily="18" charset="0"/>
            </a:endParaRPr>
          </a:p>
          <a:p>
            <a:pPr marL="164465" marR="169545" indent="1844675" algn="just">
              <a:lnSpc>
                <a:spcPct val="125000"/>
              </a:lnSpc>
              <a:spcBef>
                <a:spcPts val="100"/>
              </a:spcBef>
            </a:pPr>
            <a:r>
              <a:rPr lang="en-US" sz="2800" b="1" i="1" spc="25" dirty="0">
                <a:latin typeface="Times New Roman" panose="02020603050405020304" pitchFamily="18" charset="0"/>
                <a:cs typeface="Times New Roman" panose="02020603050405020304" pitchFamily="18" charset="0"/>
              </a:rPr>
              <a:t>                </a:t>
            </a:r>
          </a:p>
          <a:p>
            <a:pPr marL="164465" marR="169545" indent="1844675" algn="just">
              <a:lnSpc>
                <a:spcPct val="125000"/>
              </a:lnSpc>
              <a:spcBef>
                <a:spcPts val="100"/>
              </a:spcBef>
            </a:pPr>
            <a:endParaRPr lang="en-US" sz="2800" b="1" i="1" spc="25" dirty="0">
              <a:latin typeface="Times New Roman" panose="02020603050405020304" pitchFamily="18" charset="0"/>
              <a:cs typeface="Times New Roman" panose="02020603050405020304" pitchFamily="18" charset="0"/>
            </a:endParaRPr>
          </a:p>
          <a:p>
            <a:pPr marL="164465" marR="169545" indent="1844675" algn="just">
              <a:lnSpc>
                <a:spcPct val="125000"/>
              </a:lnSpc>
              <a:spcBef>
                <a:spcPts val="100"/>
              </a:spcBef>
            </a:pPr>
            <a:endParaRPr lang="en-US" sz="2800" b="1" i="1" spc="25" dirty="0">
              <a:latin typeface="Times New Roman" panose="02020603050405020304" pitchFamily="18" charset="0"/>
              <a:cs typeface="Times New Roman" panose="02020603050405020304" pitchFamily="18" charset="0"/>
            </a:endParaRPr>
          </a:p>
          <a:p>
            <a:pPr marL="164465" marR="169545" indent="1844675" algn="just">
              <a:spcBef>
                <a:spcPts val="100"/>
              </a:spcBef>
            </a:pPr>
            <a:r>
              <a:rPr lang="en-IN" sz="2400" b="1" i="1" spc="25" dirty="0">
                <a:latin typeface="Times New Roman" panose="02020603050405020304" pitchFamily="18" charset="0"/>
                <a:cs typeface="Times New Roman" panose="02020603050405020304" pitchFamily="18" charset="0"/>
              </a:rPr>
              <a:t>  </a:t>
            </a:r>
          </a:p>
          <a:p>
            <a:pPr marL="164465" marR="169545" indent="1844675" algn="just">
              <a:spcBef>
                <a:spcPts val="100"/>
              </a:spcBef>
            </a:pPr>
            <a:r>
              <a:rPr lang="en-IN" sz="2400" b="1" i="1" spc="25" dirty="0">
                <a:latin typeface="Times New Roman" panose="02020603050405020304" pitchFamily="18" charset="0"/>
                <a:cs typeface="Times New Roman" panose="02020603050405020304" pitchFamily="18" charset="0"/>
              </a:rPr>
              <a:t> </a:t>
            </a:r>
            <a:r>
              <a:rPr sz="2400" b="1" i="1" spc="25" dirty="0">
                <a:latin typeface="Times New Roman" panose="02020603050405020304" pitchFamily="18" charset="0"/>
                <a:cs typeface="Times New Roman" panose="02020603050405020304" pitchFamily="18" charset="0"/>
              </a:rPr>
              <a:t>Mechanical</a:t>
            </a:r>
            <a:r>
              <a:rPr sz="2400" b="1" i="1" spc="-12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Engineering</a:t>
            </a:r>
            <a:r>
              <a:rPr sz="2400" b="1" i="1" spc="-120" dirty="0">
                <a:latin typeface="Times New Roman" panose="02020603050405020304" pitchFamily="18" charset="0"/>
                <a:cs typeface="Times New Roman" panose="02020603050405020304" pitchFamily="18" charset="0"/>
              </a:rPr>
              <a:t> </a:t>
            </a:r>
            <a:r>
              <a:rPr sz="2400" b="1" i="1" spc="15" dirty="0">
                <a:latin typeface="Times New Roman" panose="02020603050405020304" pitchFamily="18" charset="0"/>
                <a:cs typeface="Times New Roman" panose="02020603050405020304" pitchFamily="18" charset="0"/>
              </a:rPr>
              <a:t>Department</a:t>
            </a:r>
            <a:endParaRPr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BBCE424-0FD7-EB66-7FFE-47F00A7ECB23}"/>
              </a:ext>
            </a:extLst>
          </p:cNvPr>
          <p:cNvSpPr txBox="1"/>
          <p:nvPr/>
        </p:nvSpPr>
        <p:spPr>
          <a:xfrm>
            <a:off x="-740229" y="5320587"/>
            <a:ext cx="9728489" cy="843821"/>
          </a:xfrm>
          <a:prstGeom prst="rect">
            <a:avLst/>
          </a:prstGeom>
          <a:noFill/>
        </p:spPr>
        <p:txBody>
          <a:bodyPr wrap="square" rtlCol="0">
            <a:spAutoFit/>
          </a:bodyPr>
          <a:lstStyle/>
          <a:p>
            <a:pPr marL="164465" marR="169545" lvl="0" indent="1844675" algn="just" defTabSz="914400" rtl="0" eaLnBrk="1" fontAlgn="auto" latinLnBrk="0" hangingPunct="1">
              <a:lnSpc>
                <a:spcPct val="100000"/>
              </a:lnSpc>
              <a:spcBef>
                <a:spcPts val="100"/>
              </a:spcBef>
              <a:spcAft>
                <a:spcPts val="0"/>
              </a:spcAft>
              <a:buClrTx/>
              <a:buSzTx/>
              <a:buFontTx/>
              <a:buNone/>
              <a:tabLst/>
              <a:defRPr/>
            </a:pPr>
            <a:r>
              <a:rPr kumimoji="0" lang="en-IN" sz="2400" b="1" i="1" u="none" strike="noStrike" kern="1200" cap="none" spc="1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Madan Mohan Malaviya University of Technology</a:t>
            </a:r>
          </a:p>
          <a:p>
            <a:pPr marL="164465" marR="169545" lvl="0" indent="1844675" defTabSz="914400" rtl="0" eaLnBrk="1" fontAlgn="auto" latinLnBrk="0" hangingPunct="1">
              <a:lnSpc>
                <a:spcPct val="100000"/>
              </a:lnSpc>
              <a:spcBef>
                <a:spcPts val="100"/>
              </a:spcBef>
              <a:spcAft>
                <a:spcPts val="0"/>
              </a:spcAft>
              <a:buClrTx/>
              <a:buSzTx/>
              <a:buFontTx/>
              <a:buNone/>
              <a:tabLst/>
              <a:defRPr/>
            </a:pPr>
            <a:endParaRPr kumimoji="0" lang="en-IN" sz="2400" b="1" i="1" u="none" strike="noStrike" kern="1200" cap="none" spc="15"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2" name="object 5">
            <a:extLst>
              <a:ext uri="{FF2B5EF4-FFF2-40B4-BE49-F238E27FC236}">
                <a16:creationId xmlns:a16="http://schemas.microsoft.com/office/drawing/2014/main" id="{D16C5409-0070-2C52-3176-4694568A545C}"/>
              </a:ext>
            </a:extLst>
          </p:cNvPr>
          <p:cNvPicPr/>
          <p:nvPr/>
        </p:nvPicPr>
        <p:blipFill>
          <a:blip r:embed="rId2" cstate="print"/>
          <a:stretch>
            <a:fillRect/>
          </a:stretch>
        </p:blipFill>
        <p:spPr>
          <a:xfrm>
            <a:off x="3715357" y="3527968"/>
            <a:ext cx="1713286" cy="16152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0"/>
            <a:ext cx="9001125" cy="900000"/>
            <a:chOff x="0" y="0"/>
            <a:chExt cx="9001125" cy="9000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00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357937"/>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prstGeom prst="rect">
            <a:avLst/>
          </a:prstGeom>
        </p:spPr>
        <p:txBody>
          <a:bodyPr vert="horz" wrap="square" lIns="0" tIns="1905" rIns="0" bIns="0" rtlCol="0">
            <a:spAutoFit/>
          </a:bodyPr>
          <a:lstStyle/>
          <a:p>
            <a:pPr marL="12700">
              <a:lnSpc>
                <a:spcPct val="100000"/>
              </a:lnSpc>
              <a:spcBef>
                <a:spcPts val="15"/>
              </a:spcBef>
            </a:pPr>
            <a:r>
              <a:rPr spc="-5" dirty="0"/>
              <a:t>Side</a:t>
            </a:r>
            <a:r>
              <a:rPr spc="-55" dirty="0"/>
              <a:t> </a:t>
            </a:r>
            <a:fld id="{81D60167-4931-47E6-BA6A-407CBD079E47}" type="slidenum">
              <a:rPr dirty="0"/>
              <a:t>2</a:t>
            </a:fld>
            <a:endParaRPr dirty="0"/>
          </a:p>
        </p:txBody>
      </p:sp>
      <p:sp>
        <p:nvSpPr>
          <p:cNvPr id="11" name="Rectangle 10">
            <a:extLst>
              <a:ext uri="{FF2B5EF4-FFF2-40B4-BE49-F238E27FC236}">
                <a16:creationId xmlns:a16="http://schemas.microsoft.com/office/drawing/2014/main" id="{2822C695-2CE1-1527-DB19-85B48F838B8D}"/>
              </a:ext>
            </a:extLst>
          </p:cNvPr>
          <p:cNvSpPr/>
          <p:nvPr/>
        </p:nvSpPr>
        <p:spPr>
          <a:xfrm>
            <a:off x="71437" y="2722467"/>
            <a:ext cx="9001125" cy="400110"/>
          </a:xfrm>
          <a:prstGeom prst="rect">
            <a:avLst/>
          </a:prstGeom>
        </p:spPr>
        <p:txBody>
          <a:bodyPr wrap="square">
            <a:spAutoFit/>
          </a:bodyPr>
          <a:lstStyle/>
          <a:p>
            <a:pPr marL="421640" lvl="1">
              <a:lnSpc>
                <a:spcPct val="100000"/>
              </a:lnSpc>
              <a:spcBef>
                <a:spcPts val="2070"/>
              </a:spcBef>
              <a:tabLst>
                <a:tab pos="808990" algn="l"/>
                <a:tab pos="809625" algn="l"/>
              </a:tabLst>
            </a:pPr>
            <a:r>
              <a:rPr lang="en-US" sz="2000" spc="5" dirty="0">
                <a:solidFill>
                  <a:prstClr val="black"/>
                </a:solidFill>
                <a:latin typeface="Georgia"/>
                <a:cs typeface="Georgia"/>
              </a:rPr>
              <a:t> </a:t>
            </a:r>
            <a:endParaRPr lang="en-US" sz="1600" dirty="0">
              <a:latin typeface="Georgia"/>
              <a:cs typeface="Georgia"/>
            </a:endParaRPr>
          </a:p>
        </p:txBody>
      </p:sp>
      <p:sp>
        <p:nvSpPr>
          <p:cNvPr id="8" name="TextBox 7">
            <a:extLst>
              <a:ext uri="{FF2B5EF4-FFF2-40B4-BE49-F238E27FC236}">
                <a16:creationId xmlns:a16="http://schemas.microsoft.com/office/drawing/2014/main" id="{9177D56D-62AE-5108-73F1-7A757106D88B}"/>
              </a:ext>
            </a:extLst>
          </p:cNvPr>
          <p:cNvSpPr txBox="1"/>
          <p:nvPr/>
        </p:nvSpPr>
        <p:spPr>
          <a:xfrm>
            <a:off x="228600" y="717103"/>
            <a:ext cx="8143874" cy="4815229"/>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200" b="1" spc="-5" dirty="0">
                <a:solidFill>
                  <a:schemeClr val="accent6">
                    <a:lumMod val="75000"/>
                  </a:schemeClr>
                </a:solidFill>
                <a:latin typeface="Times New Roman" panose="02020603050405020304" pitchFamily="18" charset="0"/>
                <a:cs typeface="Times New Roman" panose="02020603050405020304" pitchFamily="18" charset="0"/>
              </a:rPr>
              <a:t>    </a:t>
            </a:r>
            <a:r>
              <a:rPr lang="en-US" sz="3000" b="1" spc="-5" dirty="0">
                <a:solidFill>
                  <a:srgbClr val="0070C0"/>
                </a:solidFill>
                <a:latin typeface="Times New Roman" panose="02020603050405020304" pitchFamily="18" charset="0"/>
                <a:cs typeface="Times New Roman" panose="02020603050405020304" pitchFamily="18" charset="0"/>
              </a:rPr>
              <a:t>CONTENTS</a:t>
            </a:r>
            <a:endParaRPr lang="en-US" sz="3000" b="1" dirty="0">
              <a:solidFill>
                <a:srgbClr val="0070C0"/>
              </a:solidFill>
              <a:latin typeface="Times New Roman" panose="02020603050405020304" pitchFamily="18" charset="0"/>
              <a:cs typeface="Times New Roman" panose="02020603050405020304" pitchFamily="18" charset="0"/>
            </a:endParaRPr>
          </a:p>
          <a:p>
            <a:pPr marL="808990" lvl="1" indent="-387350">
              <a:lnSpc>
                <a:spcPct val="130000"/>
              </a:lnSpc>
              <a:spcBef>
                <a:spcPts val="2070"/>
              </a:spcBef>
              <a:buAutoNum type="arabicPeriod"/>
              <a:tabLst>
                <a:tab pos="808990" algn="l"/>
                <a:tab pos="809625" algn="l"/>
              </a:tabLst>
            </a:pPr>
            <a:r>
              <a:rPr lang="en-US" sz="2000" spc="5"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a:p>
            <a:pPr marL="808990" lvl="1" indent="-414655">
              <a:lnSpc>
                <a:spcPct val="130000"/>
              </a:lnSpc>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Thermal Power Plant Overview</a:t>
            </a:r>
          </a:p>
          <a:p>
            <a:pPr marL="808990" lvl="1" indent="-414655">
              <a:lnSpc>
                <a:spcPct val="130000"/>
              </a:lnSpc>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Emission Sources</a:t>
            </a:r>
          </a:p>
          <a:p>
            <a:pPr marL="808990" lvl="1" indent="-414655">
              <a:lnSpc>
                <a:spcPct val="130000"/>
              </a:lnSpc>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Environmental Impact of </a:t>
            </a:r>
            <a:r>
              <a:rPr lang="en-US" sz="2000" spc="15" dirty="0" err="1">
                <a:latin typeface="Times New Roman" panose="02020603050405020304" pitchFamily="18" charset="0"/>
                <a:cs typeface="Times New Roman" panose="02020603050405020304" pitchFamily="18" charset="0"/>
              </a:rPr>
              <a:t>SOx</a:t>
            </a:r>
            <a:r>
              <a:rPr lang="en-US" sz="2000" spc="15" dirty="0">
                <a:latin typeface="Times New Roman" panose="02020603050405020304" pitchFamily="18" charset="0"/>
                <a:cs typeface="Times New Roman" panose="02020603050405020304" pitchFamily="18" charset="0"/>
              </a:rPr>
              <a:t> and NOx</a:t>
            </a:r>
          </a:p>
          <a:p>
            <a:pPr marL="808990" lvl="1" indent="-414655">
              <a:lnSpc>
                <a:spcPct val="130000"/>
              </a:lnSpc>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Emission Measurement Technique</a:t>
            </a:r>
          </a:p>
          <a:p>
            <a:pPr marL="808990" lvl="1" indent="-414655">
              <a:lnSpc>
                <a:spcPct val="130000"/>
              </a:lnSpc>
              <a:buFontTx/>
              <a:buAutoNum type="arabicPeriod"/>
              <a:tabLst>
                <a:tab pos="808990" algn="l"/>
                <a:tab pos="809625" algn="l"/>
              </a:tabLst>
            </a:pPr>
            <a:r>
              <a:rPr lang="en-US" sz="2000" spc="15" dirty="0" err="1">
                <a:latin typeface="Times New Roman" panose="02020603050405020304" pitchFamily="18" charset="0"/>
                <a:cs typeface="Times New Roman" panose="02020603050405020304" pitchFamily="18" charset="0"/>
              </a:rPr>
              <a:t>SOx</a:t>
            </a:r>
            <a:r>
              <a:rPr lang="en-US" sz="2000" spc="15" dirty="0">
                <a:latin typeface="Times New Roman" panose="02020603050405020304" pitchFamily="18" charset="0"/>
                <a:cs typeface="Times New Roman" panose="02020603050405020304" pitchFamily="18" charset="0"/>
              </a:rPr>
              <a:t> Control Technique</a:t>
            </a:r>
          </a:p>
          <a:p>
            <a:pPr marL="808990" lvl="1" indent="-414655">
              <a:lnSpc>
                <a:spcPct val="130000"/>
              </a:lnSpc>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NOx Control Technique</a:t>
            </a:r>
          </a:p>
          <a:p>
            <a:pPr marL="851535" lvl="1" indent="-457200">
              <a:lnSpc>
                <a:spcPct val="130000"/>
              </a:lnSpc>
              <a:buFont typeface="+mj-lt"/>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Case Study Of Thermal Power Plant </a:t>
            </a:r>
          </a:p>
          <a:p>
            <a:pPr marL="851535" lvl="1" indent="-457200">
              <a:lnSpc>
                <a:spcPct val="130000"/>
              </a:lnSpc>
              <a:buFont typeface="+mj-lt"/>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Conclusion</a:t>
            </a:r>
          </a:p>
          <a:p>
            <a:pPr marL="851535" lvl="1" indent="-457200">
              <a:lnSpc>
                <a:spcPct val="130000"/>
              </a:lnSpc>
              <a:buFont typeface="+mj-lt"/>
              <a:buAutoNum type="arabicPeriod"/>
              <a:tabLst>
                <a:tab pos="808990" algn="l"/>
                <a:tab pos="809625" algn="l"/>
              </a:tabLst>
            </a:pPr>
            <a:r>
              <a:rPr lang="en-US" sz="2000" spc="15"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82134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0"/>
            <a:ext cx="9001125" cy="900000"/>
            <a:chOff x="0" y="0"/>
            <a:chExt cx="9001125" cy="9000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00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1" y="6553094"/>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651628"/>
            <a:ext cx="430212" cy="153988"/>
          </a:xfrm>
        </p:spPr>
        <p:txBody>
          <a:bodyPr vert="horz" wrap="square" lIns="0" tIns="1905" rIns="0" bIns="0" rtlCol="0">
            <a:spAutoFit/>
          </a:bodyPr>
          <a:lstStyle/>
          <a:p>
            <a:r>
              <a:rPr lang="en-IN" dirty="0"/>
              <a:t>Side </a:t>
            </a:r>
            <a:fld id="{81D60167-4931-47E6-BA6A-407CBD079E47}" type="slidenum">
              <a:rPr dirty="0"/>
              <a:pPr/>
              <a:t>3</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411308" y="883411"/>
            <a:ext cx="8143874" cy="584775"/>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200" b="1" spc="-5" dirty="0">
                <a:solidFill>
                  <a:srgbClr val="0070C0"/>
                </a:solidFill>
                <a:latin typeface="Times New Roman" panose="02020603050405020304" pitchFamily="18" charset="0"/>
                <a:cs typeface="Times New Roman" panose="02020603050405020304" pitchFamily="18" charset="0"/>
              </a:rPr>
              <a:t>1. </a:t>
            </a:r>
            <a:r>
              <a:rPr lang="en-US" sz="3000" b="1" spc="-5" dirty="0">
                <a:solidFill>
                  <a:srgbClr val="0070C0"/>
                </a:solidFill>
                <a:latin typeface="Times New Roman" panose="02020603050405020304" pitchFamily="18" charset="0"/>
                <a:cs typeface="Times New Roman" panose="02020603050405020304" pitchFamily="18" charset="0"/>
              </a:rPr>
              <a:t>Introduction</a:t>
            </a:r>
          </a:p>
        </p:txBody>
      </p:sp>
      <p:sp>
        <p:nvSpPr>
          <p:cNvPr id="21" name="Rectangle 6">
            <a:extLst>
              <a:ext uri="{FF2B5EF4-FFF2-40B4-BE49-F238E27FC236}">
                <a16:creationId xmlns:a16="http://schemas.microsoft.com/office/drawing/2014/main" id="{D1693302-773D-27D4-65D3-B62EF561EFBD}"/>
              </a:ext>
            </a:extLst>
          </p:cNvPr>
          <p:cNvSpPr>
            <a:spLocks noGrp="1" noChangeArrowheads="1"/>
          </p:cNvSpPr>
          <p:nvPr>
            <p:ph type="body" idx="1"/>
          </p:nvPr>
        </p:nvSpPr>
        <p:spPr bwMode="auto">
          <a:xfrm>
            <a:off x="509588" y="2655822"/>
            <a:ext cx="26481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811DD94-1890-A9D1-CD41-E9F85CDF9EFF}"/>
              </a:ext>
            </a:extLst>
          </p:cNvPr>
          <p:cNvSpPr txBox="1"/>
          <p:nvPr/>
        </p:nvSpPr>
        <p:spPr>
          <a:xfrm>
            <a:off x="536892" y="1333583"/>
            <a:ext cx="8693946" cy="1508105"/>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Thermal</a:t>
            </a:r>
            <a:r>
              <a:rPr lang="en-US" sz="1600" dirty="0"/>
              <a:t> power plants are one of the main sources of electricity generation worldwide,</a:t>
            </a:r>
          </a:p>
          <a:p>
            <a:endParaRPr lang="en-US" sz="1600" dirty="0"/>
          </a:p>
          <a:p>
            <a:r>
              <a:rPr lang="en-US" sz="1600" dirty="0"/>
              <a:t>     especially </a:t>
            </a:r>
            <a:r>
              <a:rPr lang="en-US" sz="1600" dirty="0">
                <a:latin typeface="Times New Roman" panose="02020603050405020304" pitchFamily="18" charset="0"/>
                <a:cs typeface="Times New Roman" panose="02020603050405020304" pitchFamily="18" charset="0"/>
              </a:rPr>
              <a:t>in</a:t>
            </a:r>
            <a:r>
              <a:rPr lang="en-US" sz="1600" dirty="0"/>
              <a:t> </a:t>
            </a:r>
            <a:r>
              <a:rPr lang="en-US" sz="1600" dirty="0">
                <a:latin typeface="Times New Roman" panose="02020603050405020304" pitchFamily="18" charset="0"/>
                <a:cs typeface="Times New Roman" panose="02020603050405020304" pitchFamily="18" charset="0"/>
              </a:rPr>
              <a:t>developing</a:t>
            </a:r>
            <a:r>
              <a:rPr lang="en-US" sz="1600" dirty="0"/>
              <a:t> countries. They operate by burning fossil fuels such as coal, which </a:t>
            </a:r>
            <a:endParaRPr lang="en-US" sz="1600" dirty="0">
              <a:latin typeface="Times New Roman" panose="02020603050405020304" pitchFamily="18" charset="0"/>
              <a:cs typeface="Times New Roman" panose="02020603050405020304" pitchFamily="18" charset="0"/>
            </a:endParaRPr>
          </a:p>
          <a:p>
            <a:endParaRPr lang="en-US" sz="1600" dirty="0"/>
          </a:p>
          <a:p>
            <a:r>
              <a:rPr lang="en-US" sz="1600" dirty="0"/>
              <a:t>      leads to the production of large volumes of flue gases. [1]</a:t>
            </a:r>
            <a:endParaRPr lang="en-IN" sz="1600" dirty="0"/>
          </a:p>
        </p:txBody>
      </p:sp>
      <p:sp>
        <p:nvSpPr>
          <p:cNvPr id="15" name="TextBox 14">
            <a:extLst>
              <a:ext uri="{FF2B5EF4-FFF2-40B4-BE49-F238E27FC236}">
                <a16:creationId xmlns:a16="http://schemas.microsoft.com/office/drawing/2014/main" id="{97569B24-2DD1-0D93-1E32-6EA7E0E09B6F}"/>
              </a:ext>
            </a:extLst>
          </p:cNvPr>
          <p:cNvSpPr txBox="1"/>
          <p:nvPr/>
        </p:nvSpPr>
        <p:spPr>
          <a:xfrm>
            <a:off x="774404" y="2977786"/>
            <a:ext cx="8405812" cy="1323439"/>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These flue gases contain harmful pollutants like carbon dioxide (CO₂), </a:t>
            </a:r>
            <a:r>
              <a:rPr lang="en-IN" sz="1600" dirty="0" err="1">
                <a:latin typeface="Times New Roman" panose="02020603050405020304" pitchFamily="18" charset="0"/>
                <a:cs typeface="Times New Roman" panose="02020603050405020304" pitchFamily="18" charset="0"/>
              </a:rPr>
              <a:t>sulfur</a:t>
            </a:r>
            <a:r>
              <a:rPr lang="en-IN" sz="1600" dirty="0">
                <a:latin typeface="Times New Roman" panose="02020603050405020304" pitchFamily="18" charset="0"/>
                <a:cs typeface="Times New Roman" panose="02020603050405020304" pitchFamily="18" charset="0"/>
              </a:rPr>
              <a:t> dioxide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(SO₂), nitrogen oxides (NOₓ), and particulate matter. If released untreated, they cause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air pollution, climate change, acid rain, and serious health hazards.</a:t>
            </a:r>
          </a:p>
        </p:txBody>
      </p:sp>
      <p:sp>
        <p:nvSpPr>
          <p:cNvPr id="19" name="TextBox 18">
            <a:extLst>
              <a:ext uri="{FF2B5EF4-FFF2-40B4-BE49-F238E27FC236}">
                <a16:creationId xmlns:a16="http://schemas.microsoft.com/office/drawing/2014/main" id="{AD0B051A-D630-A596-F943-C2FC2010CAE5}"/>
              </a:ext>
            </a:extLst>
          </p:cNvPr>
          <p:cNvSpPr txBox="1"/>
          <p:nvPr/>
        </p:nvSpPr>
        <p:spPr>
          <a:xfrm>
            <a:off x="521018" y="2826448"/>
            <a:ext cx="457708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 </a:t>
            </a:r>
            <a:endParaRPr lang="en-IN" sz="2800" dirty="0"/>
          </a:p>
        </p:txBody>
      </p:sp>
      <p:sp>
        <p:nvSpPr>
          <p:cNvPr id="22" name="TextBox 21">
            <a:extLst>
              <a:ext uri="{FF2B5EF4-FFF2-40B4-BE49-F238E27FC236}">
                <a16:creationId xmlns:a16="http://schemas.microsoft.com/office/drawing/2014/main" id="{079B5CD7-BD0E-8DCF-1547-498991FCB03A}"/>
              </a:ext>
            </a:extLst>
          </p:cNvPr>
          <p:cNvSpPr txBox="1"/>
          <p:nvPr/>
        </p:nvSpPr>
        <p:spPr>
          <a:xfrm>
            <a:off x="857250" y="4459534"/>
            <a:ext cx="8024156" cy="132343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Therefore, controlling flue gas emissions has become an important environmental and</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regulatory requirement. Various prevention and control technologies are adopted in thermal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power plants to reduce pollution and ensure sustainable power generation. [3]</a:t>
            </a:r>
            <a:endParaRPr lang="en-IN" sz="16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2104AC3-0A5C-1292-1789-B4C6E016B1EC}"/>
              </a:ext>
            </a:extLst>
          </p:cNvPr>
          <p:cNvSpPr txBox="1"/>
          <p:nvPr/>
        </p:nvSpPr>
        <p:spPr>
          <a:xfrm>
            <a:off x="600710" y="4269177"/>
            <a:ext cx="461772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t>
            </a:r>
            <a:endParaRPr lang="en-IN" sz="2800" dirty="0"/>
          </a:p>
        </p:txBody>
      </p:sp>
    </p:spTree>
    <p:extLst>
      <p:ext uri="{BB962C8B-B14F-4D97-AF65-F5344CB8AC3E}">
        <p14:creationId xmlns:p14="http://schemas.microsoft.com/office/powerpoint/2010/main" val="1801001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0"/>
            <a:ext cx="9001125" cy="900000"/>
            <a:chOff x="0" y="0"/>
            <a:chExt cx="9001125" cy="9000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00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1" y="6553094"/>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651628"/>
            <a:ext cx="430212" cy="153988"/>
          </a:xfrm>
        </p:spPr>
        <p:txBody>
          <a:bodyPr vert="horz" wrap="square" lIns="0" tIns="1905" rIns="0" bIns="0" rtlCol="0">
            <a:spAutoFit/>
          </a:bodyPr>
          <a:lstStyle/>
          <a:p>
            <a:r>
              <a:rPr lang="en-IN" dirty="0"/>
              <a:t>Side </a:t>
            </a:r>
            <a:fld id="{81D60167-4931-47E6-BA6A-407CBD079E47}" type="slidenum">
              <a:rPr dirty="0"/>
              <a:pPr/>
              <a:t>4</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141441" y="1068406"/>
            <a:ext cx="8431058" cy="553998"/>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2. THERMAL POWER PLANT OVERVIEW</a:t>
            </a:r>
          </a:p>
        </p:txBody>
      </p:sp>
      <p:sp>
        <p:nvSpPr>
          <p:cNvPr id="12" name="TextBox 11">
            <a:extLst>
              <a:ext uri="{FF2B5EF4-FFF2-40B4-BE49-F238E27FC236}">
                <a16:creationId xmlns:a16="http://schemas.microsoft.com/office/drawing/2014/main" id="{0FC95513-8875-3ECD-87AD-4535AB7EF510}"/>
              </a:ext>
            </a:extLst>
          </p:cNvPr>
          <p:cNvSpPr txBox="1"/>
          <p:nvPr/>
        </p:nvSpPr>
        <p:spPr>
          <a:xfrm>
            <a:off x="328611" y="1622404"/>
            <a:ext cx="8486775" cy="5392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CORE COMPONENTS:-</a:t>
            </a: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Quattrocento" pitchFamily="34" charset="-122"/>
                <a:cs typeface="Times New Roman" panose="02020603050405020304" pitchFamily="18" charset="0"/>
              </a:rPr>
              <a:t>A thermal power plant operates by burning coal to generate electricity. The process begins with coal pulverization, followed by combustion in a boiler to produce high-pressure steam. This steam drives a turbine, which is connected to a generator that produces electricity. [1]</a:t>
            </a:r>
            <a:endParaRPr lang="en-US" sz="16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OPERATIONAL CYCLE:-</a:t>
            </a:r>
          </a:p>
          <a:p>
            <a:pPr>
              <a:lnSpc>
                <a:spcPct val="150000"/>
              </a:lnSpc>
            </a:pPr>
            <a:r>
              <a:rPr lang="en-US"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Quattrocento" pitchFamily="34" charset="-122"/>
                <a:cs typeface="Times New Roman" panose="02020603050405020304" pitchFamily="18" charset="0"/>
              </a:rPr>
              <a:t>The exhaust steam from the turbine is then cooled in a condenser, turning it back into water to restart the cycle. This continuous process ensures efficient electricity generation.</a:t>
            </a:r>
          </a:p>
          <a:p>
            <a:pPr>
              <a:lnSpc>
                <a:spcPct val="150000"/>
              </a:lnSpc>
            </a:pPr>
            <a:r>
              <a:rPr lang="en-US" sz="1600" dirty="0">
                <a:latin typeface="Times New Roman" panose="02020603050405020304" pitchFamily="18" charset="0"/>
                <a:ea typeface="Quattrocento" pitchFamily="34" charset="-122"/>
                <a:cs typeface="Times New Roman" panose="02020603050405020304" pitchFamily="18" charset="0"/>
              </a:rPr>
              <a:t>There are some boilers present there . </a:t>
            </a:r>
          </a:p>
          <a:p>
            <a:pPr>
              <a:lnSpc>
                <a:spcPct val="150000"/>
              </a:lnSpc>
            </a:pPr>
            <a:r>
              <a:rPr lang="en-US" sz="1600" dirty="0">
                <a:latin typeface="Times New Roman" panose="02020603050405020304" pitchFamily="18" charset="0"/>
                <a:ea typeface="Quattrocento" pitchFamily="34" charset="-122"/>
                <a:cs typeface="Times New Roman" panose="02020603050405020304" pitchFamily="18" charset="0"/>
              </a:rPr>
              <a:t>These advanced boilers operate at extremely high temperatures and pressures, further enhancing the plant's overall performance and reducing fuel consumption per unit of electricity generated</a:t>
            </a:r>
            <a:r>
              <a:rPr lang="en-US" sz="2000" dirty="0">
                <a:latin typeface="Times New Roman" panose="02020603050405020304" pitchFamily="18" charset="0"/>
                <a:ea typeface="Quattrocento" pitchFamily="34" charset="-122"/>
                <a:cs typeface="Times New Roman" panose="02020603050405020304" pitchFamily="18" charset="0"/>
              </a:rPr>
              <a:t>. [2]</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37779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71437" y="86997"/>
            <a:ext cx="9001125" cy="900000"/>
            <a:chOff x="0" y="0"/>
            <a:chExt cx="9001125" cy="9000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00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5</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314326" y="1066800"/>
            <a:ext cx="8143874" cy="553998"/>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3. EMISSION SOURCES IN THER. PLANT</a:t>
            </a:r>
          </a:p>
        </p:txBody>
      </p:sp>
      <p:sp>
        <p:nvSpPr>
          <p:cNvPr id="12" name="Text Placeholder 11">
            <a:extLst>
              <a:ext uri="{FF2B5EF4-FFF2-40B4-BE49-F238E27FC236}">
                <a16:creationId xmlns:a16="http://schemas.microsoft.com/office/drawing/2014/main" id="{E02EA125-6D33-83AB-A79B-A0D033AFD5DC}"/>
              </a:ext>
            </a:extLst>
          </p:cNvPr>
          <p:cNvSpPr>
            <a:spLocks noGrp="1"/>
          </p:cNvSpPr>
          <p:nvPr>
            <p:ph type="body" idx="1"/>
          </p:nvPr>
        </p:nvSpPr>
        <p:spPr>
          <a:xfrm>
            <a:off x="431606" y="1460853"/>
            <a:ext cx="8202489" cy="8531631"/>
          </a:xfrm>
        </p:spPr>
        <p:txBody>
          <a:bodyPr/>
          <a:lstStyle/>
          <a:p>
            <a:pPr marL="342900" indent="-342900" algn="l">
              <a:lnSpc>
                <a:spcPct val="150000"/>
              </a:lnSpc>
              <a:buFont typeface="Arial" panose="020B0604020202020204" pitchFamily="34" charset="0"/>
              <a:buChar char="•"/>
            </a:pPr>
            <a:r>
              <a:rPr lang="en-US" b="1" dirty="0">
                <a:latin typeface="Times New Roman" panose="02020603050405020304" pitchFamily="18" charset="0"/>
                <a:ea typeface="Quattrocento" pitchFamily="34" charset="-122"/>
                <a:cs typeface="Times New Roman" panose="02020603050405020304" pitchFamily="18" charset="0"/>
              </a:rPr>
              <a:t>COAL COMBUSTION :-</a:t>
            </a:r>
          </a:p>
          <a:p>
            <a:pPr algn="l">
              <a:lnSpc>
                <a:spcPct val="150000"/>
              </a:lnSpc>
            </a:pPr>
            <a:r>
              <a:rPr lang="en-US" sz="1600" dirty="0">
                <a:latin typeface="Times New Roman" panose="02020603050405020304" pitchFamily="18" charset="0"/>
                <a:ea typeface="Quattrocento" pitchFamily="34" charset="-122"/>
                <a:cs typeface="Times New Roman" panose="02020603050405020304" pitchFamily="18" charset="0"/>
              </a:rPr>
              <a:t>      The primary source of emissions is the combustion of coal. This process converts the chemical energy stored in coal into thermal energy, but it also releases various pollutants into the atmosphere, including sulfur and nitrogen compounds.[1]</a:t>
            </a:r>
          </a:p>
          <a:p>
            <a:pPr algn="l">
              <a:lnSpc>
                <a:spcPct val="150000"/>
              </a:lnSpc>
            </a:pPr>
            <a:r>
              <a:rPr lang="en-US" sz="3200" b="1" dirty="0">
                <a:latin typeface="Times New Roman" panose="02020603050405020304" pitchFamily="18" charset="0"/>
                <a:ea typeface="Quattrocento" pitchFamily="34" charset="-122"/>
                <a:cs typeface="Times New Roman" panose="02020603050405020304" pitchFamily="18" charset="0"/>
              </a:rPr>
              <a:t>.   </a:t>
            </a:r>
            <a:r>
              <a:rPr lang="en-US" b="1" dirty="0">
                <a:latin typeface="Times New Roman" panose="02020603050405020304" pitchFamily="18" charset="0"/>
                <a:ea typeface="Quattrocento" pitchFamily="34" charset="-122"/>
                <a:cs typeface="Times New Roman" panose="02020603050405020304" pitchFamily="18" charset="0"/>
              </a:rPr>
              <a:t>FLUE GAS :-</a:t>
            </a:r>
          </a:p>
          <a:p>
            <a:pPr algn="l">
              <a:lnSpc>
                <a:spcPct val="150000"/>
              </a:lnSpc>
            </a:pP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Quattrocento" pitchFamily="34" charset="-122"/>
                <a:cs typeface="Times New Roman" panose="02020603050405020304" pitchFamily="18" charset="0"/>
              </a:rPr>
              <a:t>Flue gases are the byproduct of coal combustion and contain harmful pollutants. These gases are discharged through the plant's stacks after passing through various treatment systems. Key pollutants include sulfur dioxide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and nitrogen oxides (NOx), which are major contributors to air pollution. [2]</a:t>
            </a:r>
          </a:p>
          <a:p>
            <a:pPr algn="l">
              <a:lnSpc>
                <a:spcPct val="150000"/>
              </a:lnSpc>
            </a:pPr>
            <a:endParaRPr lang="en-US" sz="3200" b="1" dirty="0">
              <a:latin typeface="Times New Roman" panose="02020603050405020304" pitchFamily="18" charset="0"/>
              <a:cs typeface="Times New Roman" panose="02020603050405020304" pitchFamily="18" charset="0"/>
            </a:endParaRPr>
          </a:p>
          <a:p>
            <a:pPr algn="l">
              <a:lnSpc>
                <a:spcPct val="150000"/>
              </a:lnSpc>
            </a:pPr>
            <a:endParaRPr lang="en-US" sz="1600" dirty="0">
              <a:latin typeface="Times New Roman" panose="02020603050405020304" pitchFamily="18" charset="0"/>
              <a:cs typeface="Times New Roman" panose="02020603050405020304" pitchFamily="18" charset="0"/>
            </a:endParaRPr>
          </a:p>
          <a:p>
            <a:pPr algn="l">
              <a:lnSpc>
                <a:spcPct val="150000"/>
              </a:lnSpc>
            </a:pPr>
            <a:r>
              <a:rPr lang="en-US" sz="1600" b="1" dirty="0">
                <a:latin typeface="Times New Roman" panose="02020603050405020304" pitchFamily="18" charset="0"/>
                <a:ea typeface="Quattrocento" pitchFamily="34" charset="-122"/>
                <a:cs typeface="Times New Roman" panose="02020603050405020304" pitchFamily="18" charset="0"/>
              </a:rPr>
              <a:t>                                                            Fig(1) flue gases emission </a:t>
            </a:r>
          </a:p>
          <a:p>
            <a:pPr algn="l">
              <a:lnSpc>
                <a:spcPct val="150000"/>
              </a:lnSpc>
            </a:pPr>
            <a:endParaRPr lang="en-US" sz="1600" dirty="0">
              <a:latin typeface="Times New Roman" panose="02020603050405020304" pitchFamily="18" charset="0"/>
              <a:cs typeface="Times New Roman" panose="02020603050405020304" pitchFamily="18" charset="0"/>
            </a:endParaRPr>
          </a:p>
          <a:p>
            <a:pPr algn="l">
              <a:lnSpc>
                <a:spcPct val="150000"/>
              </a:lnSpc>
            </a:pPr>
            <a:endParaRPr lang="en-US" sz="1600" dirty="0">
              <a:latin typeface="Times New Roman" panose="02020603050405020304" pitchFamily="18" charset="0"/>
              <a:cs typeface="Times New Roman" panose="02020603050405020304" pitchFamily="18" charset="0"/>
            </a:endParaRPr>
          </a:p>
          <a:p>
            <a:pPr algn="l">
              <a:lnSpc>
                <a:spcPct val="150000"/>
              </a:lnSpc>
            </a:pPr>
            <a:endParaRPr lang="en-US" sz="1600" dirty="0">
              <a:latin typeface="Times New Roman" panose="02020603050405020304" pitchFamily="18" charset="0"/>
              <a:cs typeface="Times New Roman" panose="02020603050405020304" pitchFamily="18" charset="0"/>
            </a:endParaRPr>
          </a:p>
          <a:p>
            <a:pPr algn="l">
              <a:lnSpc>
                <a:spcPct val="150000"/>
              </a:lnSpc>
            </a:pPr>
            <a:endParaRPr lang="en-US" sz="1600" dirty="0">
              <a:latin typeface="Times New Roman" panose="02020603050405020304" pitchFamily="18" charset="0"/>
              <a:cs typeface="Times New Roman" panose="02020603050405020304" pitchFamily="18" charset="0"/>
            </a:endParaRPr>
          </a:p>
          <a:p>
            <a:pPr algn="l">
              <a:lnSpc>
                <a:spcPct val="150000"/>
              </a:lnSpc>
            </a:pPr>
            <a:endParaRPr lang="en-US" sz="1600" dirty="0">
              <a:latin typeface="Times New Roman" panose="02020603050405020304" pitchFamily="18" charset="0"/>
              <a:ea typeface="Quattrocento" pitchFamily="34" charset="-122"/>
              <a:cs typeface="Times New Roman" panose="02020603050405020304" pitchFamily="18" charset="0"/>
            </a:endParaRPr>
          </a:p>
          <a:p>
            <a:pPr algn="l">
              <a:lnSpc>
                <a:spcPct val="150000"/>
              </a:lnSpc>
            </a:pPr>
            <a:r>
              <a:rPr lang="en-US" dirty="0">
                <a:latin typeface="Times New Roman" panose="02020603050405020304" pitchFamily="18" charset="0"/>
                <a:cs typeface="Times New Roman" panose="02020603050405020304" pitchFamily="18" charset="0"/>
              </a:rPr>
              <a:t>      </a:t>
            </a:r>
          </a:p>
          <a:p>
            <a:pPr marL="342900" indent="-342900" algn="l">
              <a:lnSpc>
                <a:spcPct val="150000"/>
              </a:lnSpc>
              <a:buFont typeface="Arial" panose="020B0604020202020204" pitchFamily="34" charset="0"/>
              <a:buChar char="•"/>
            </a:pPr>
            <a:endParaRPr lang="en-US" b="1" dirty="0"/>
          </a:p>
          <a:p>
            <a:pPr marL="342900" indent="-34290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98BFB69-62E5-3200-69DC-DD13583B9E10}"/>
              </a:ext>
            </a:extLst>
          </p:cNvPr>
          <p:cNvSpPr txBox="1"/>
          <p:nvPr/>
        </p:nvSpPr>
        <p:spPr>
          <a:xfrm>
            <a:off x="514527" y="2637423"/>
            <a:ext cx="184731" cy="830997"/>
          </a:xfrm>
          <a:prstGeom prst="rect">
            <a:avLst/>
          </a:prstGeom>
          <a:noFill/>
        </p:spPr>
        <p:txBody>
          <a:bodyPr wrap="none" rtlCol="0">
            <a:spAutoFit/>
          </a:bodyPr>
          <a:lstStyle/>
          <a:p>
            <a:pPr algn="l">
              <a:lnSpc>
                <a:spcPct val="150000"/>
              </a:lnSpc>
            </a:pPr>
            <a:endParaRPr lang="en-IN" sz="2000" dirty="0">
              <a:latin typeface="Times New Roman" panose="02020603050405020304" pitchFamily="18" charset="0"/>
              <a:cs typeface="Times New Roman" panose="02020603050405020304" pitchFamily="18" charset="0"/>
            </a:endParaRPr>
          </a:p>
          <a:p>
            <a:endParaRPr lang="en-IN" dirty="0"/>
          </a:p>
        </p:txBody>
      </p:sp>
      <p:sp>
        <p:nvSpPr>
          <p:cNvPr id="18" name="TextBox 17">
            <a:extLst>
              <a:ext uri="{FF2B5EF4-FFF2-40B4-BE49-F238E27FC236}">
                <a16:creationId xmlns:a16="http://schemas.microsoft.com/office/drawing/2014/main" id="{4F4F11C7-3280-A03B-EF1D-58EBA7BE3D15}"/>
              </a:ext>
            </a:extLst>
          </p:cNvPr>
          <p:cNvSpPr txBox="1"/>
          <p:nvPr/>
        </p:nvSpPr>
        <p:spPr>
          <a:xfrm>
            <a:off x="2778175" y="6172200"/>
            <a:ext cx="184731" cy="646331"/>
          </a:xfrm>
          <a:prstGeom prst="rect">
            <a:avLst/>
          </a:prstGeom>
          <a:noFill/>
        </p:spPr>
        <p:txBody>
          <a:bodyPr wrap="none" rtlCol="0">
            <a:spAutoFit/>
          </a:bodyPr>
          <a:lstStyle/>
          <a:p>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37B5A412-2BC6-2DDC-19C5-9BBBEB15A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542" y="4959288"/>
            <a:ext cx="4827270" cy="153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48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17B4BE5B-6B4C-444B-F08F-AA73475B71CA}"/>
              </a:ext>
            </a:extLst>
          </p:cNvPr>
          <p:cNvGrpSpPr/>
          <p:nvPr/>
        </p:nvGrpSpPr>
        <p:grpSpPr>
          <a:xfrm>
            <a:off x="71437" y="159025"/>
            <a:ext cx="9001125" cy="900000"/>
            <a:chOff x="0" y="0"/>
            <a:chExt cx="9001125" cy="900000"/>
          </a:xfrm>
        </p:grpSpPr>
        <p:sp>
          <p:nvSpPr>
            <p:cNvPr id="3" name="object 4">
              <a:extLst>
                <a:ext uri="{FF2B5EF4-FFF2-40B4-BE49-F238E27FC236}">
                  <a16:creationId xmlns:a16="http://schemas.microsoft.com/office/drawing/2014/main" id="{BBCCE85F-1B1C-6CB0-B876-B860FA749B6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E1659895-7407-9702-53C2-52C4E1403E64}"/>
                </a:ext>
              </a:extLst>
            </p:cNvPr>
            <p:cNvPicPr/>
            <p:nvPr/>
          </p:nvPicPr>
          <p:blipFill>
            <a:blip r:embed="rId2" cstate="print"/>
            <a:stretch>
              <a:fillRect/>
            </a:stretch>
          </p:blipFill>
          <p:spPr>
            <a:xfrm>
              <a:off x="0" y="0"/>
              <a:ext cx="900111" cy="900000"/>
            </a:xfrm>
            <a:prstGeom prst="rect">
              <a:avLst/>
            </a:prstGeom>
          </p:spPr>
        </p:pic>
      </p:grpSp>
      <p:sp>
        <p:nvSpPr>
          <p:cNvPr id="5" name="object 6">
            <a:extLst>
              <a:ext uri="{FF2B5EF4-FFF2-40B4-BE49-F238E27FC236}">
                <a16:creationId xmlns:a16="http://schemas.microsoft.com/office/drawing/2014/main" id="{62D30C25-B586-134A-FF20-E8A722FF51D9}"/>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7" name="TextBox 6">
            <a:extLst>
              <a:ext uri="{FF2B5EF4-FFF2-40B4-BE49-F238E27FC236}">
                <a16:creationId xmlns:a16="http://schemas.microsoft.com/office/drawing/2014/main" id="{C650C494-C2BF-E529-FA1A-ED14E444C8D7}"/>
              </a:ext>
            </a:extLst>
          </p:cNvPr>
          <p:cNvSpPr txBox="1"/>
          <p:nvPr/>
        </p:nvSpPr>
        <p:spPr>
          <a:xfrm>
            <a:off x="304800" y="1645820"/>
            <a:ext cx="4576916" cy="317138"/>
          </a:xfrm>
          <a:prstGeom prst="rect">
            <a:avLst/>
          </a:prstGeom>
          <a:noFill/>
        </p:spPr>
        <p:txBody>
          <a:bodyPr wrap="square">
            <a:spAutoFit/>
          </a:bodyPr>
          <a:lstStyle/>
          <a:p>
            <a:pPr marL="0" indent="0" algn="l">
              <a:lnSpc>
                <a:spcPts val="1400"/>
              </a:lnSpc>
              <a:buNone/>
            </a:pPr>
            <a:r>
              <a:rPr lang="en-US" sz="3000" b="1" dirty="0">
                <a:latin typeface="Times New Roman" panose="02020603050405020304" pitchFamily="18" charset="0"/>
                <a:ea typeface="Quattrocento" pitchFamily="34" charset="-122"/>
                <a:cs typeface="Times New Roman" panose="02020603050405020304" pitchFamily="18" charset="0"/>
              </a:rPr>
              <a:t>   . </a:t>
            </a:r>
            <a:r>
              <a:rPr lang="en-US" sz="2000" b="1" dirty="0">
                <a:latin typeface="Times New Roman" panose="02020603050405020304" pitchFamily="18" charset="0"/>
                <a:ea typeface="Quattrocento" pitchFamily="34" charset="-122"/>
                <a:cs typeface="Times New Roman" panose="02020603050405020304" pitchFamily="18" charset="0"/>
              </a:rPr>
              <a:t> PARTICULATE MATTER </a:t>
            </a:r>
            <a:r>
              <a:rPr lang="en-US" sz="2000" b="1" dirty="0">
                <a:latin typeface="Quattrocento" pitchFamily="34" charset="0"/>
                <a:ea typeface="Quattrocento" pitchFamily="34" charset="-122"/>
                <a:cs typeface="Quattrocento" pitchFamily="34" charset="-120"/>
              </a:rPr>
              <a:t>:-</a:t>
            </a:r>
            <a:endParaRPr lang="en-US" sz="2000" b="1" dirty="0"/>
          </a:p>
        </p:txBody>
      </p:sp>
      <p:sp>
        <p:nvSpPr>
          <p:cNvPr id="11" name="TextBox 10">
            <a:extLst>
              <a:ext uri="{FF2B5EF4-FFF2-40B4-BE49-F238E27FC236}">
                <a16:creationId xmlns:a16="http://schemas.microsoft.com/office/drawing/2014/main" id="{9C5415B9-EC50-BA31-381C-B9C25856F2E0}"/>
              </a:ext>
            </a:extLst>
          </p:cNvPr>
          <p:cNvSpPr txBox="1"/>
          <p:nvPr/>
        </p:nvSpPr>
        <p:spPr>
          <a:xfrm>
            <a:off x="752320" y="2089200"/>
            <a:ext cx="7975960" cy="1528624"/>
          </a:xfrm>
          <a:prstGeom prst="rect">
            <a:avLst/>
          </a:prstGeom>
          <a:noFill/>
        </p:spPr>
        <p:txBody>
          <a:bodyPr wrap="square">
            <a:spAutoFit/>
          </a:bodyPr>
          <a:lstStyle/>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Thermal power plants also emit particulate matter,</a:t>
            </a: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a:t>
            </a: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which consists of fine airborne particles. These particles can vary in size and composition,</a:t>
            </a:r>
          </a:p>
          <a:p>
            <a:pPr marL="0" indent="0" algn="l">
              <a:lnSpc>
                <a:spcPts val="1550"/>
              </a:lnSpc>
              <a:buNone/>
            </a:pPr>
            <a:endParaRPr lang="en-US" sz="1600" dirty="0">
              <a:latin typeface="Times New Roman" panose="02020603050405020304" pitchFamily="18" charset="0"/>
              <a:ea typeface="Quattrocento" pitchFamily="34" charset="-122"/>
              <a:cs typeface="Times New Roman" panose="02020603050405020304" pitchFamily="18" charset="0"/>
            </a:endParaRP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ranging from ash to unburnt carbon. While modern plants use electrostatic precipitators or</a:t>
            </a:r>
          </a:p>
          <a:p>
            <a:pPr marL="0" indent="0" algn="l">
              <a:lnSpc>
                <a:spcPts val="1550"/>
              </a:lnSpc>
              <a:buNone/>
            </a:pPr>
            <a:endParaRPr lang="en-US" sz="1600" dirty="0">
              <a:latin typeface="Times New Roman" panose="02020603050405020304" pitchFamily="18" charset="0"/>
              <a:ea typeface="Quattrocento" pitchFamily="34" charset="-122"/>
              <a:cs typeface="Times New Roman" panose="02020603050405020304" pitchFamily="18" charset="0"/>
            </a:endParaRP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baghouses to capture most of these, some finer particles can still escape.[2] </a:t>
            </a:r>
            <a:endParaRPr lang="en-US" sz="1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DAF3528-8E76-807D-D318-63A7C5C46A4F}"/>
              </a:ext>
            </a:extLst>
          </p:cNvPr>
          <p:cNvSpPr txBox="1"/>
          <p:nvPr/>
        </p:nvSpPr>
        <p:spPr>
          <a:xfrm>
            <a:off x="685800" y="3727296"/>
            <a:ext cx="4576916" cy="553998"/>
          </a:xfrm>
          <a:prstGeom prst="rect">
            <a:avLst/>
          </a:prstGeom>
          <a:noFill/>
        </p:spPr>
        <p:txBody>
          <a:bodyPr wrap="square">
            <a:spAutoFit/>
          </a:bodyPr>
          <a:lstStyle/>
          <a:p>
            <a:r>
              <a:rPr lang="en-US" sz="3000" b="1" dirty="0">
                <a:latin typeface="Times New Roman" panose="02020603050405020304" pitchFamily="18" charset="0"/>
                <a:ea typeface="Quattrocento" pitchFamily="34" charset="-122"/>
                <a:cs typeface="Times New Roman" panose="02020603050405020304" pitchFamily="18" charset="0"/>
              </a:rPr>
              <a:t>.</a:t>
            </a:r>
            <a:endParaRPr lang="en-IN" sz="3000" b="1" dirty="0"/>
          </a:p>
        </p:txBody>
      </p:sp>
      <p:sp>
        <p:nvSpPr>
          <p:cNvPr id="17" name="TextBox 16">
            <a:extLst>
              <a:ext uri="{FF2B5EF4-FFF2-40B4-BE49-F238E27FC236}">
                <a16:creationId xmlns:a16="http://schemas.microsoft.com/office/drawing/2014/main" id="{10CB14A5-B1AB-7DC1-22D8-9F5D789199BC}"/>
              </a:ext>
            </a:extLst>
          </p:cNvPr>
          <p:cNvSpPr txBox="1"/>
          <p:nvPr/>
        </p:nvSpPr>
        <p:spPr>
          <a:xfrm>
            <a:off x="835742" y="4007815"/>
            <a:ext cx="4576916" cy="298159"/>
          </a:xfrm>
          <a:prstGeom prst="rect">
            <a:avLst/>
          </a:prstGeom>
          <a:noFill/>
        </p:spPr>
        <p:txBody>
          <a:bodyPr wrap="square">
            <a:spAutoFit/>
          </a:bodyPr>
          <a:lstStyle/>
          <a:p>
            <a:pPr marL="0" indent="0" algn="l">
              <a:lnSpc>
                <a:spcPts val="1400"/>
              </a:lnSpc>
              <a:buNone/>
            </a:pPr>
            <a:r>
              <a:rPr lang="en-US" sz="2000" b="1" dirty="0">
                <a:latin typeface="Times New Roman" panose="02020603050405020304" pitchFamily="18" charset="0"/>
                <a:ea typeface="Quattrocento" pitchFamily="34" charset="-122"/>
                <a:cs typeface="Times New Roman" panose="02020603050405020304" pitchFamily="18" charset="0"/>
              </a:rPr>
              <a:t>TRACE METALS :-</a:t>
            </a:r>
            <a:endParaRPr lang="en-US" sz="20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845DB4D1-3C20-EDE7-BDE7-0591258BB144}"/>
              </a:ext>
            </a:extLst>
          </p:cNvPr>
          <p:cNvSpPr txBox="1"/>
          <p:nvPr/>
        </p:nvSpPr>
        <p:spPr>
          <a:xfrm>
            <a:off x="762000" y="4558458"/>
            <a:ext cx="7966280" cy="1528624"/>
          </a:xfrm>
          <a:prstGeom prst="rect">
            <a:avLst/>
          </a:prstGeom>
          <a:noFill/>
        </p:spPr>
        <p:txBody>
          <a:bodyPr wrap="square">
            <a:spAutoFit/>
          </a:bodyPr>
          <a:lstStyle/>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Beyond the main pollutants, coal combustion also releases trace metals such as mercury,</a:t>
            </a:r>
          </a:p>
          <a:p>
            <a:pPr marL="0" indent="0" algn="l">
              <a:lnSpc>
                <a:spcPts val="1550"/>
              </a:lnSpc>
              <a:buNone/>
            </a:pPr>
            <a:endParaRPr lang="en-US" sz="1600" dirty="0">
              <a:latin typeface="Times New Roman" panose="02020603050405020304" pitchFamily="18" charset="0"/>
              <a:ea typeface="Quattrocento" pitchFamily="34" charset="-122"/>
              <a:cs typeface="Times New Roman" panose="02020603050405020304" pitchFamily="18" charset="0"/>
            </a:endParaRP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arsenic, and lead. These heavy metals, present in small quantities in coal, can have significant</a:t>
            </a:r>
          </a:p>
          <a:p>
            <a:pPr marL="0" indent="0" algn="l">
              <a:lnSpc>
                <a:spcPts val="1550"/>
              </a:lnSpc>
              <a:buNone/>
            </a:pPr>
            <a:endParaRPr lang="en-US" sz="1600" dirty="0">
              <a:latin typeface="Times New Roman" panose="02020603050405020304" pitchFamily="18" charset="0"/>
              <a:ea typeface="Quattrocento" pitchFamily="34" charset="-122"/>
              <a:cs typeface="Times New Roman" panose="02020603050405020304" pitchFamily="18" charset="0"/>
            </a:endParaRP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environmental and health impacts if not properly controlled and removed from the flue gas</a:t>
            </a:r>
          </a:p>
          <a:p>
            <a:pPr marL="0" indent="0" algn="l">
              <a:lnSpc>
                <a:spcPts val="1550"/>
              </a:lnSpc>
              <a:buNone/>
            </a:pPr>
            <a:endParaRPr lang="en-US" sz="1600" dirty="0">
              <a:latin typeface="Times New Roman" panose="02020603050405020304" pitchFamily="18" charset="0"/>
              <a:ea typeface="Quattrocento" pitchFamily="34" charset="-122"/>
              <a:cs typeface="Times New Roman" panose="02020603050405020304" pitchFamily="18" charset="0"/>
            </a:endParaRPr>
          </a:p>
          <a:p>
            <a:pPr marL="0" indent="0" algn="l">
              <a:lnSpc>
                <a:spcPts val="1550"/>
              </a:lnSpc>
              <a:buNone/>
            </a:pPr>
            <a:r>
              <a:rPr lang="en-US" sz="1600" dirty="0">
                <a:latin typeface="Times New Roman" panose="02020603050405020304" pitchFamily="18" charset="0"/>
                <a:ea typeface="Quattrocento" pitchFamily="34" charset="-122"/>
                <a:cs typeface="Times New Roman" panose="02020603050405020304" pitchFamily="18" charset="0"/>
              </a:rPr>
              <a:t> stream.[1] [2]</a:t>
            </a:r>
            <a:endParaRPr lang="en-US" sz="16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19A1DB29-8AA2-6005-83B3-4F6504B87509}"/>
              </a:ext>
            </a:extLst>
          </p:cNvPr>
          <p:cNvSpPr txBox="1"/>
          <p:nvPr/>
        </p:nvSpPr>
        <p:spPr>
          <a:xfrm>
            <a:off x="1600200" y="73080"/>
            <a:ext cx="5943600" cy="369332"/>
          </a:xfrm>
          <a:prstGeom prst="rect">
            <a:avLst/>
          </a:prstGeom>
          <a:noFill/>
        </p:spPr>
        <p:txBody>
          <a:bodyPr wrap="square">
            <a:spAutoFit/>
          </a:bodyPr>
          <a:lstStyle/>
          <a:p>
            <a:pPr marL="12700">
              <a:lnSpc>
                <a:spcPct val="100000"/>
              </a:lnSpc>
              <a:spcBef>
                <a:spcPts val="100"/>
              </a:spcBef>
            </a:pPr>
            <a:r>
              <a:rPr lang="en-IN" sz="1800" b="1" i="1" spc="-5" dirty="0">
                <a:latin typeface="Times New Roman"/>
                <a:cs typeface="Times New Roman"/>
              </a:rPr>
              <a:t>Madan</a:t>
            </a:r>
            <a:r>
              <a:rPr lang="en-IN" sz="1800" b="1" i="1" spc="-10" dirty="0">
                <a:latin typeface="Times New Roman"/>
                <a:cs typeface="Times New Roman"/>
              </a:rPr>
              <a:t> </a:t>
            </a:r>
            <a:r>
              <a:rPr lang="en-IN" sz="1800" b="1" i="1" spc="-5" dirty="0">
                <a:latin typeface="Times New Roman"/>
                <a:cs typeface="Times New Roman"/>
              </a:rPr>
              <a:t>Mohan</a:t>
            </a:r>
            <a:r>
              <a:rPr lang="en-IN" sz="1800" b="1" i="1" spc="-10" dirty="0">
                <a:latin typeface="Times New Roman"/>
                <a:cs typeface="Times New Roman"/>
              </a:rPr>
              <a:t> </a:t>
            </a:r>
            <a:r>
              <a:rPr lang="en-IN" sz="1800" b="1" i="1" spc="-5" dirty="0">
                <a:latin typeface="Times New Roman"/>
                <a:cs typeface="Times New Roman"/>
              </a:rPr>
              <a:t>Malaviya </a:t>
            </a:r>
            <a:r>
              <a:rPr lang="en-IN" sz="1800" b="1" i="1" spc="-20" dirty="0">
                <a:latin typeface="Times New Roman"/>
                <a:cs typeface="Times New Roman"/>
              </a:rPr>
              <a:t>Univ.</a:t>
            </a:r>
            <a:r>
              <a:rPr lang="en-IN" sz="1800" b="1" i="1" spc="-5" dirty="0">
                <a:latin typeface="Times New Roman"/>
                <a:cs typeface="Times New Roman"/>
              </a:rPr>
              <a:t> </a:t>
            </a:r>
            <a:r>
              <a:rPr lang="en-IN" sz="1800" b="1" i="1" dirty="0">
                <a:latin typeface="Times New Roman"/>
                <a:cs typeface="Times New Roman"/>
              </a:rPr>
              <a:t>of</a:t>
            </a:r>
            <a:r>
              <a:rPr lang="en-IN" sz="1800" b="1" i="1" spc="-5" dirty="0">
                <a:latin typeface="Times New Roman"/>
                <a:cs typeface="Times New Roman"/>
              </a:rPr>
              <a:t> </a:t>
            </a:r>
            <a:r>
              <a:rPr lang="en-IN" sz="1800" b="1" i="1" spc="-30" dirty="0">
                <a:latin typeface="Times New Roman"/>
                <a:cs typeface="Times New Roman"/>
              </a:rPr>
              <a:t>Technology,</a:t>
            </a:r>
            <a:r>
              <a:rPr lang="en-IN" b="1" i="1" spc="-5" dirty="0">
                <a:latin typeface="Times New Roman"/>
                <a:cs typeface="Times New Roman"/>
              </a:rPr>
              <a:t> Gorakhpur</a:t>
            </a:r>
            <a:endParaRPr lang="en-IN" sz="1800" dirty="0">
              <a:latin typeface="Times New Roman"/>
              <a:cs typeface="Times New Roman"/>
            </a:endParaRPr>
          </a:p>
        </p:txBody>
      </p:sp>
      <p:sp>
        <p:nvSpPr>
          <p:cNvPr id="8" name="TextBox 7">
            <a:extLst>
              <a:ext uri="{FF2B5EF4-FFF2-40B4-BE49-F238E27FC236}">
                <a16:creationId xmlns:a16="http://schemas.microsoft.com/office/drawing/2014/main" id="{4FF7A061-EF2A-45F6-6573-2F51241CCA20}"/>
              </a:ext>
            </a:extLst>
          </p:cNvPr>
          <p:cNvSpPr txBox="1"/>
          <p:nvPr/>
        </p:nvSpPr>
        <p:spPr>
          <a:xfrm>
            <a:off x="3124200" y="6600254"/>
            <a:ext cx="4051750" cy="369332"/>
          </a:xfrm>
          <a:prstGeom prst="rect">
            <a:avLst/>
          </a:prstGeom>
          <a:noFill/>
        </p:spPr>
        <p:txBody>
          <a:bodyPr wrap="square">
            <a:spAutoFit/>
          </a:bodyPr>
          <a:lstStyle/>
          <a:p>
            <a:r>
              <a:rPr lang="en-US" sz="1800" b="1" dirty="0">
                <a:latin typeface="Times New Roman" panose="02020603050405020304" pitchFamily="18" charset="0"/>
                <a:ea typeface="Quattrocento" pitchFamily="34" charset="-122"/>
                <a:cs typeface="Times New Roman" panose="02020603050405020304" pitchFamily="18" charset="0"/>
              </a:rPr>
              <a:t>            </a:t>
            </a:r>
            <a:endParaRPr lang="en-IN" dirty="0"/>
          </a:p>
        </p:txBody>
      </p:sp>
    </p:spTree>
    <p:extLst>
      <p:ext uri="{BB962C8B-B14F-4D97-AF65-F5344CB8AC3E}">
        <p14:creationId xmlns:p14="http://schemas.microsoft.com/office/powerpoint/2010/main" val="1493070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084A2E6F-0D96-C93D-4F0D-E37B8D1A7E5D}"/>
              </a:ext>
            </a:extLst>
          </p:cNvPr>
          <p:cNvGrpSpPr/>
          <p:nvPr/>
        </p:nvGrpSpPr>
        <p:grpSpPr>
          <a:xfrm>
            <a:off x="71437" y="159025"/>
            <a:ext cx="9001125" cy="900000"/>
            <a:chOff x="0" y="0"/>
            <a:chExt cx="9001125" cy="900000"/>
          </a:xfrm>
        </p:grpSpPr>
        <p:sp>
          <p:nvSpPr>
            <p:cNvPr id="3" name="object 4">
              <a:extLst>
                <a:ext uri="{FF2B5EF4-FFF2-40B4-BE49-F238E27FC236}">
                  <a16:creationId xmlns:a16="http://schemas.microsoft.com/office/drawing/2014/main" id="{9F78150A-D044-76DD-476B-C33CD4777050}"/>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08647C4C-C794-38CA-A52E-508CAC8A1904}"/>
                </a:ext>
              </a:extLst>
            </p:cNvPr>
            <p:cNvPicPr/>
            <p:nvPr/>
          </p:nvPicPr>
          <p:blipFill>
            <a:blip r:embed="rId2" cstate="print"/>
            <a:stretch>
              <a:fillRect/>
            </a:stretch>
          </p:blipFill>
          <p:spPr>
            <a:xfrm>
              <a:off x="0" y="0"/>
              <a:ext cx="900111" cy="900000"/>
            </a:xfrm>
            <a:prstGeom prst="rect">
              <a:avLst/>
            </a:prstGeom>
          </p:spPr>
        </p:pic>
      </p:grpSp>
      <p:sp>
        <p:nvSpPr>
          <p:cNvPr id="5" name="TextBox 4">
            <a:extLst>
              <a:ext uri="{FF2B5EF4-FFF2-40B4-BE49-F238E27FC236}">
                <a16:creationId xmlns:a16="http://schemas.microsoft.com/office/drawing/2014/main" id="{86C79A88-2C8F-CE97-4B7B-7B41EC34F9F6}"/>
              </a:ext>
            </a:extLst>
          </p:cNvPr>
          <p:cNvSpPr txBox="1"/>
          <p:nvPr/>
        </p:nvSpPr>
        <p:spPr>
          <a:xfrm>
            <a:off x="1600200" y="73080"/>
            <a:ext cx="5943600" cy="369332"/>
          </a:xfrm>
          <a:prstGeom prst="rect">
            <a:avLst/>
          </a:prstGeom>
          <a:noFill/>
        </p:spPr>
        <p:txBody>
          <a:bodyPr wrap="square">
            <a:spAutoFit/>
          </a:bodyPr>
          <a:lstStyle/>
          <a:p>
            <a:pPr marL="12700">
              <a:lnSpc>
                <a:spcPct val="100000"/>
              </a:lnSpc>
              <a:spcBef>
                <a:spcPts val="100"/>
              </a:spcBef>
            </a:pPr>
            <a:r>
              <a:rPr lang="en-IN" sz="1800" b="1" i="1" spc="-5" dirty="0">
                <a:latin typeface="Times New Roman"/>
                <a:cs typeface="Times New Roman"/>
              </a:rPr>
              <a:t>Madan</a:t>
            </a:r>
            <a:r>
              <a:rPr lang="en-IN" sz="1800" b="1" i="1" spc="-10" dirty="0">
                <a:latin typeface="Times New Roman"/>
                <a:cs typeface="Times New Roman"/>
              </a:rPr>
              <a:t> </a:t>
            </a:r>
            <a:r>
              <a:rPr lang="en-IN" sz="1800" b="1" i="1" spc="-5" dirty="0">
                <a:latin typeface="Times New Roman"/>
                <a:cs typeface="Times New Roman"/>
              </a:rPr>
              <a:t>Mohan</a:t>
            </a:r>
            <a:r>
              <a:rPr lang="en-IN" sz="1800" b="1" i="1" spc="-10" dirty="0">
                <a:latin typeface="Times New Roman"/>
                <a:cs typeface="Times New Roman"/>
              </a:rPr>
              <a:t> </a:t>
            </a:r>
            <a:r>
              <a:rPr lang="en-IN" sz="1800" b="1" i="1" spc="-5" dirty="0">
                <a:latin typeface="Times New Roman"/>
                <a:cs typeface="Times New Roman"/>
              </a:rPr>
              <a:t>Malaviya </a:t>
            </a:r>
            <a:r>
              <a:rPr lang="en-IN" sz="1800" b="1" i="1" spc="-20" dirty="0">
                <a:latin typeface="Times New Roman"/>
                <a:cs typeface="Times New Roman"/>
              </a:rPr>
              <a:t>Univ.</a:t>
            </a:r>
            <a:r>
              <a:rPr lang="en-IN" sz="1800" b="1" i="1" spc="-5" dirty="0">
                <a:latin typeface="Times New Roman"/>
                <a:cs typeface="Times New Roman"/>
              </a:rPr>
              <a:t> </a:t>
            </a:r>
            <a:r>
              <a:rPr lang="en-IN" sz="1800" b="1" i="1" dirty="0">
                <a:latin typeface="Times New Roman"/>
                <a:cs typeface="Times New Roman"/>
              </a:rPr>
              <a:t>of</a:t>
            </a:r>
            <a:r>
              <a:rPr lang="en-IN" sz="1800" b="1" i="1" spc="-5" dirty="0">
                <a:latin typeface="Times New Roman"/>
                <a:cs typeface="Times New Roman"/>
              </a:rPr>
              <a:t> </a:t>
            </a:r>
            <a:r>
              <a:rPr lang="en-IN" sz="1800" b="1" i="1" spc="-30" dirty="0">
                <a:latin typeface="Times New Roman"/>
                <a:cs typeface="Times New Roman"/>
              </a:rPr>
              <a:t>Technology,</a:t>
            </a:r>
            <a:r>
              <a:rPr lang="en-IN" b="1" i="1" spc="-5" dirty="0">
                <a:latin typeface="Times New Roman"/>
                <a:cs typeface="Times New Roman"/>
              </a:rPr>
              <a:t> Gorakhpur</a:t>
            </a:r>
            <a:endParaRPr lang="en-IN" sz="1800" dirty="0">
              <a:latin typeface="Times New Roman"/>
              <a:cs typeface="Times New Roman"/>
            </a:endParaRPr>
          </a:p>
        </p:txBody>
      </p:sp>
      <p:sp>
        <p:nvSpPr>
          <p:cNvPr id="6" name="object 6">
            <a:extLst>
              <a:ext uri="{FF2B5EF4-FFF2-40B4-BE49-F238E27FC236}">
                <a16:creationId xmlns:a16="http://schemas.microsoft.com/office/drawing/2014/main" id="{DE3F85B5-540B-9474-66E3-D48B809F3894}"/>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pic>
        <p:nvPicPr>
          <p:cNvPr id="7" name="Picture 2">
            <a:extLst>
              <a:ext uri="{FF2B5EF4-FFF2-40B4-BE49-F238E27FC236}">
                <a16:creationId xmlns:a16="http://schemas.microsoft.com/office/drawing/2014/main" id="{13BBA390-5439-31F1-95CF-EB7A3719FE5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5621"/>
                    </a14:imgEffect>
                    <a14:imgEffect>
                      <a14:saturation sat="240000"/>
                    </a14:imgEffect>
                  </a14:imgLayer>
                </a14:imgProps>
              </a:ext>
              <a:ext uri="{28A0092B-C50C-407E-A947-70E740481C1C}">
                <a14:useLocalDpi xmlns:a14="http://schemas.microsoft.com/office/drawing/2010/main" val="0"/>
              </a:ext>
            </a:extLst>
          </a:blip>
          <a:srcRect/>
          <a:stretch>
            <a:fillRect/>
          </a:stretch>
        </p:blipFill>
        <p:spPr bwMode="auto">
          <a:xfrm>
            <a:off x="923606" y="1293177"/>
            <a:ext cx="7814745" cy="4572320"/>
          </a:xfrm>
          <a:prstGeom prst="rect">
            <a:avLst/>
          </a:prstGeom>
          <a:noFill/>
          <a:ln>
            <a:noFill/>
          </a:ln>
          <a:effectLst>
            <a:outerShdw dist="50800" dir="5400000" sx="98000" sy="98000" algn="ctr" rotWithShape="0">
              <a:srgbClr val="000000">
                <a:alpha val="0"/>
              </a:srgbClr>
            </a:outerShdw>
            <a:reflection stA="0" endPos="65000" dist="50800" dir="5400000" sy="-100000" algn="bl" rotWithShape="0"/>
            <a:softEdge rad="0"/>
          </a:effectLst>
        </p:spPr>
      </p:pic>
      <p:sp>
        <p:nvSpPr>
          <p:cNvPr id="9" name="TextBox 8">
            <a:extLst>
              <a:ext uri="{FF2B5EF4-FFF2-40B4-BE49-F238E27FC236}">
                <a16:creationId xmlns:a16="http://schemas.microsoft.com/office/drawing/2014/main" id="{DCD028FD-F347-2662-BD6A-52F6AE90720C}"/>
              </a:ext>
            </a:extLst>
          </p:cNvPr>
          <p:cNvSpPr txBox="1"/>
          <p:nvPr/>
        </p:nvSpPr>
        <p:spPr>
          <a:xfrm>
            <a:off x="2438400" y="6162786"/>
            <a:ext cx="4577080" cy="369332"/>
          </a:xfrm>
          <a:prstGeom prst="rect">
            <a:avLst/>
          </a:prstGeom>
          <a:noFill/>
        </p:spPr>
        <p:txBody>
          <a:bodyPr wrap="square">
            <a:spAutoFit/>
          </a:bodyPr>
          <a:lstStyle/>
          <a:p>
            <a:r>
              <a:rPr lang="en-US" sz="1800" b="1" dirty="0">
                <a:latin typeface="Times New Roman" panose="02020603050405020304" pitchFamily="18" charset="0"/>
                <a:ea typeface="Quattrocento" pitchFamily="34" charset="-122"/>
                <a:cs typeface="Times New Roman" panose="02020603050405020304" pitchFamily="18" charset="0"/>
              </a:rPr>
              <a:t> fig(2) flow of flue gases [1] [7] </a:t>
            </a:r>
            <a:endParaRPr lang="en-IN" dirty="0"/>
          </a:p>
        </p:txBody>
      </p:sp>
    </p:spTree>
    <p:extLst>
      <p:ext uri="{BB962C8B-B14F-4D97-AF65-F5344CB8AC3E}">
        <p14:creationId xmlns:p14="http://schemas.microsoft.com/office/powerpoint/2010/main" val="3125836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65ADD0A9-7905-6CFD-696B-B41C675B5651}"/>
              </a:ext>
            </a:extLst>
          </p:cNvPr>
          <p:cNvGrpSpPr/>
          <p:nvPr/>
        </p:nvGrpSpPr>
        <p:grpSpPr>
          <a:xfrm>
            <a:off x="71437" y="86997"/>
            <a:ext cx="9001125" cy="900000"/>
            <a:chOff x="0" y="0"/>
            <a:chExt cx="9001125" cy="900000"/>
          </a:xfrm>
        </p:grpSpPr>
        <p:sp>
          <p:nvSpPr>
            <p:cNvPr id="3" name="object 4">
              <a:extLst>
                <a:ext uri="{FF2B5EF4-FFF2-40B4-BE49-F238E27FC236}">
                  <a16:creationId xmlns:a16="http://schemas.microsoft.com/office/drawing/2014/main" id="{BCF6916E-0C58-1CE5-D51F-352A56B4F2DE}"/>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B246E781-BB7D-E657-347C-9108CAD53E5E}"/>
                </a:ext>
              </a:extLst>
            </p:cNvPr>
            <p:cNvPicPr/>
            <p:nvPr/>
          </p:nvPicPr>
          <p:blipFill>
            <a:blip r:embed="rId2" cstate="print"/>
            <a:stretch>
              <a:fillRect/>
            </a:stretch>
          </p:blipFill>
          <p:spPr>
            <a:xfrm>
              <a:off x="0" y="0"/>
              <a:ext cx="900111" cy="900000"/>
            </a:xfrm>
            <a:prstGeom prst="rect">
              <a:avLst/>
            </a:prstGeom>
          </p:spPr>
        </p:pic>
      </p:grpSp>
      <p:sp>
        <p:nvSpPr>
          <p:cNvPr id="5" name="TextBox 4">
            <a:extLst>
              <a:ext uri="{FF2B5EF4-FFF2-40B4-BE49-F238E27FC236}">
                <a16:creationId xmlns:a16="http://schemas.microsoft.com/office/drawing/2014/main" id="{B74A65F2-B05C-506B-E31F-9A76D1B44DB4}"/>
              </a:ext>
            </a:extLst>
          </p:cNvPr>
          <p:cNvSpPr txBox="1"/>
          <p:nvPr/>
        </p:nvSpPr>
        <p:spPr>
          <a:xfrm>
            <a:off x="1600200" y="73080"/>
            <a:ext cx="5943600" cy="369332"/>
          </a:xfrm>
          <a:prstGeom prst="rect">
            <a:avLst/>
          </a:prstGeom>
          <a:noFill/>
        </p:spPr>
        <p:txBody>
          <a:bodyPr wrap="square">
            <a:spAutoFit/>
          </a:bodyPr>
          <a:lstStyle/>
          <a:p>
            <a:pPr marL="12700">
              <a:lnSpc>
                <a:spcPct val="100000"/>
              </a:lnSpc>
              <a:spcBef>
                <a:spcPts val="100"/>
              </a:spcBef>
            </a:pPr>
            <a:r>
              <a:rPr lang="en-IN" sz="1800" b="1" i="1" spc="-5" dirty="0">
                <a:latin typeface="Times New Roman"/>
                <a:cs typeface="Times New Roman"/>
              </a:rPr>
              <a:t>Madan</a:t>
            </a:r>
            <a:r>
              <a:rPr lang="en-IN" sz="1800" b="1" i="1" spc="-10" dirty="0">
                <a:latin typeface="Times New Roman"/>
                <a:cs typeface="Times New Roman"/>
              </a:rPr>
              <a:t> </a:t>
            </a:r>
            <a:r>
              <a:rPr lang="en-IN" sz="1800" b="1" i="1" spc="-5" dirty="0">
                <a:latin typeface="Times New Roman"/>
                <a:cs typeface="Times New Roman"/>
              </a:rPr>
              <a:t>Mohan</a:t>
            </a:r>
            <a:r>
              <a:rPr lang="en-IN" sz="1800" b="1" i="1" spc="-10" dirty="0">
                <a:latin typeface="Times New Roman"/>
                <a:cs typeface="Times New Roman"/>
              </a:rPr>
              <a:t> </a:t>
            </a:r>
            <a:r>
              <a:rPr lang="en-IN" sz="1800" b="1" i="1" spc="-5" dirty="0">
                <a:latin typeface="Times New Roman"/>
                <a:cs typeface="Times New Roman"/>
              </a:rPr>
              <a:t>Malaviya </a:t>
            </a:r>
            <a:r>
              <a:rPr lang="en-IN" sz="1800" b="1" i="1" spc="-20" dirty="0">
                <a:latin typeface="Times New Roman"/>
                <a:cs typeface="Times New Roman"/>
              </a:rPr>
              <a:t>Univ.</a:t>
            </a:r>
            <a:r>
              <a:rPr lang="en-IN" sz="1800" b="1" i="1" spc="-5" dirty="0">
                <a:latin typeface="Times New Roman"/>
                <a:cs typeface="Times New Roman"/>
              </a:rPr>
              <a:t> </a:t>
            </a:r>
            <a:r>
              <a:rPr lang="en-IN" sz="1800" b="1" i="1" dirty="0">
                <a:latin typeface="Times New Roman"/>
                <a:cs typeface="Times New Roman"/>
              </a:rPr>
              <a:t>of</a:t>
            </a:r>
            <a:r>
              <a:rPr lang="en-IN" sz="1800" b="1" i="1" spc="-5" dirty="0">
                <a:latin typeface="Times New Roman"/>
                <a:cs typeface="Times New Roman"/>
              </a:rPr>
              <a:t> </a:t>
            </a:r>
            <a:r>
              <a:rPr lang="en-IN" sz="1800" b="1" i="1" spc="-30" dirty="0">
                <a:latin typeface="Times New Roman"/>
                <a:cs typeface="Times New Roman"/>
              </a:rPr>
              <a:t>Technology,</a:t>
            </a:r>
            <a:r>
              <a:rPr lang="en-IN" b="1" i="1" spc="-5" dirty="0">
                <a:latin typeface="Times New Roman"/>
                <a:cs typeface="Times New Roman"/>
              </a:rPr>
              <a:t> Gorakhpur</a:t>
            </a:r>
            <a:endParaRPr lang="en-IN" sz="1800" dirty="0">
              <a:latin typeface="Times New Roman"/>
              <a:cs typeface="Times New Roman"/>
            </a:endParaRPr>
          </a:p>
        </p:txBody>
      </p:sp>
      <p:sp>
        <p:nvSpPr>
          <p:cNvPr id="8" name="object 6">
            <a:extLst>
              <a:ext uri="{FF2B5EF4-FFF2-40B4-BE49-F238E27FC236}">
                <a16:creationId xmlns:a16="http://schemas.microsoft.com/office/drawing/2014/main" id="{E653F82A-ECD4-4E47-C122-26A811B9D4B2}"/>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12" name="TextBox 11">
            <a:extLst>
              <a:ext uri="{FF2B5EF4-FFF2-40B4-BE49-F238E27FC236}">
                <a16:creationId xmlns:a16="http://schemas.microsoft.com/office/drawing/2014/main" id="{09F05435-9602-FC0C-558A-255DB516A03F}"/>
              </a:ext>
            </a:extLst>
          </p:cNvPr>
          <p:cNvSpPr txBox="1"/>
          <p:nvPr/>
        </p:nvSpPr>
        <p:spPr>
          <a:xfrm>
            <a:off x="873252" y="534090"/>
            <a:ext cx="4578096" cy="1015663"/>
          </a:xfrm>
          <a:prstGeom prst="rect">
            <a:avLst/>
          </a:prstGeom>
          <a:noFill/>
        </p:spPr>
        <p:txBody>
          <a:bodyPr wrap="square">
            <a:spAutoFit/>
          </a:bodyPr>
          <a:lstStyle/>
          <a:p>
            <a:r>
              <a:rPr lang="en-US" sz="3000" b="1" dirty="0">
                <a:solidFill>
                  <a:srgbClr val="0070C0"/>
                </a:solidFill>
                <a:latin typeface="Times New Roman" panose="02020603050405020304" pitchFamily="18" charset="0"/>
                <a:cs typeface="Times New Roman" panose="02020603050405020304" pitchFamily="18" charset="0"/>
              </a:rPr>
              <a:t>4. ENVIRONMENTAL IMPACT OF </a:t>
            </a:r>
            <a:r>
              <a:rPr lang="en-US" sz="3000" b="1" dirty="0" err="1">
                <a:solidFill>
                  <a:srgbClr val="0070C0"/>
                </a:solidFill>
                <a:latin typeface="Times New Roman" panose="02020603050405020304" pitchFamily="18" charset="0"/>
                <a:cs typeface="Times New Roman" panose="02020603050405020304" pitchFamily="18" charset="0"/>
              </a:rPr>
              <a:t>SOx</a:t>
            </a:r>
            <a:r>
              <a:rPr lang="en-US" sz="3000" b="1" dirty="0">
                <a:solidFill>
                  <a:srgbClr val="0070C0"/>
                </a:solidFill>
                <a:latin typeface="Times New Roman" panose="02020603050405020304" pitchFamily="18" charset="0"/>
                <a:cs typeface="Times New Roman" panose="02020603050405020304" pitchFamily="18" charset="0"/>
              </a:rPr>
              <a:t> and Nox </a:t>
            </a:r>
            <a:endParaRPr lang="en-IN" sz="3000" b="1" dirty="0">
              <a:solidFill>
                <a:srgbClr val="0070C0"/>
              </a:solidFill>
            </a:endParaRPr>
          </a:p>
        </p:txBody>
      </p:sp>
      <p:sp>
        <p:nvSpPr>
          <p:cNvPr id="16" name="TextBox 15">
            <a:extLst>
              <a:ext uri="{FF2B5EF4-FFF2-40B4-BE49-F238E27FC236}">
                <a16:creationId xmlns:a16="http://schemas.microsoft.com/office/drawing/2014/main" id="{E44475D1-9316-5063-CC10-F5AB24E94E83}"/>
              </a:ext>
            </a:extLst>
          </p:cNvPr>
          <p:cNvSpPr txBox="1"/>
          <p:nvPr/>
        </p:nvSpPr>
        <p:spPr>
          <a:xfrm>
            <a:off x="375468" y="5257800"/>
            <a:ext cx="4576916" cy="1354217"/>
          </a:xfrm>
          <a:prstGeom prst="rect">
            <a:avLst/>
          </a:prstGeom>
          <a:noFill/>
        </p:spPr>
        <p:txBody>
          <a:bodyPr wrap="square">
            <a:spAutoFit/>
          </a:bodyPr>
          <a:lstStyle/>
          <a:p>
            <a:r>
              <a:rPr lang="en-US" dirty="0"/>
              <a:t>•</a:t>
            </a:r>
            <a:r>
              <a:rPr lang="en-US" sz="1600" dirty="0">
                <a:latin typeface="Times New Roman" panose="02020603050405020304" pitchFamily="18" charset="0"/>
                <a:cs typeface="Times New Roman" panose="02020603050405020304" pitchFamily="18" charset="0"/>
              </a:rPr>
              <a:t> Acid rain</a:t>
            </a:r>
          </a:p>
          <a:p>
            <a:r>
              <a:rPr lang="en-US" sz="1600" dirty="0">
                <a:latin typeface="Times New Roman" panose="02020603050405020304" pitchFamily="18" charset="0"/>
                <a:cs typeface="Times New Roman" panose="02020603050405020304" pitchFamily="18" charset="0"/>
              </a:rPr>
              <a:t>• Air pollution</a:t>
            </a:r>
          </a:p>
          <a:p>
            <a:r>
              <a:rPr lang="en-US" sz="1600" dirty="0">
                <a:latin typeface="Times New Roman" panose="02020603050405020304" pitchFamily="18" charset="0"/>
                <a:cs typeface="Times New Roman" panose="02020603050405020304" pitchFamily="18" charset="0"/>
              </a:rPr>
              <a:t>• Vegetation damage</a:t>
            </a:r>
          </a:p>
          <a:p>
            <a:r>
              <a:rPr lang="en-US" sz="1600" dirty="0">
                <a:latin typeface="Times New Roman" panose="02020603050405020304" pitchFamily="18" charset="0"/>
                <a:cs typeface="Times New Roman" panose="02020603050405020304" pitchFamily="18" charset="0"/>
              </a:rPr>
              <a:t>• Health hazards</a:t>
            </a:r>
          </a:p>
          <a:p>
            <a:r>
              <a:rPr lang="en-US" sz="1600" dirty="0">
                <a:latin typeface="Times New Roman" panose="02020603050405020304" pitchFamily="18" charset="0"/>
                <a:cs typeface="Times New Roman" panose="02020603050405020304" pitchFamily="18" charset="0"/>
              </a:rPr>
              <a:t>• Climate change</a:t>
            </a:r>
          </a:p>
        </p:txBody>
      </p:sp>
      <p:pic>
        <p:nvPicPr>
          <p:cNvPr id="6146" name="Picture 2">
            <a:extLst>
              <a:ext uri="{FF2B5EF4-FFF2-40B4-BE49-F238E27FC236}">
                <a16:creationId xmlns:a16="http://schemas.microsoft.com/office/drawing/2014/main" id="{C64104E6-6ABF-8035-3BD3-79B32011E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268" y="1785814"/>
            <a:ext cx="8235132" cy="34479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396FB61-D4CA-5D06-1916-15D5C16D35E8}"/>
              </a:ext>
            </a:extLst>
          </p:cNvPr>
          <p:cNvSpPr txBox="1"/>
          <p:nvPr/>
        </p:nvSpPr>
        <p:spPr>
          <a:xfrm>
            <a:off x="3276600" y="5325408"/>
            <a:ext cx="5181600" cy="369332"/>
          </a:xfrm>
          <a:prstGeom prst="rect">
            <a:avLst/>
          </a:prstGeom>
          <a:noFill/>
        </p:spPr>
        <p:txBody>
          <a:bodyPr wrap="square">
            <a:spAutoFit/>
          </a:bodyPr>
          <a:lstStyle/>
          <a:p>
            <a:r>
              <a:rPr lang="en-US" sz="1800" b="1" dirty="0">
                <a:latin typeface="Times New Roman" panose="02020603050405020304" pitchFamily="18" charset="0"/>
                <a:ea typeface="Quattrocento" pitchFamily="34" charset="-122"/>
                <a:cs typeface="Times New Roman" panose="02020603050405020304" pitchFamily="18" charset="0"/>
              </a:rPr>
              <a:t>Fig(</a:t>
            </a:r>
            <a:r>
              <a:rPr lang="en-US" b="1" dirty="0">
                <a:latin typeface="Times New Roman" panose="02020603050405020304" pitchFamily="18" charset="0"/>
                <a:ea typeface="Quattrocento" pitchFamily="34" charset="-122"/>
                <a:cs typeface="Times New Roman" panose="02020603050405020304" pitchFamily="18" charset="0"/>
              </a:rPr>
              <a:t>3)</a:t>
            </a:r>
            <a:r>
              <a:rPr lang="en-US" sz="1800" b="1" dirty="0">
                <a:latin typeface="Times New Roman" panose="02020603050405020304" pitchFamily="18" charset="0"/>
                <a:ea typeface="Quattrocento" pitchFamily="34" charset="-122"/>
                <a:cs typeface="Times New Roman" panose="02020603050405020304" pitchFamily="18" charset="0"/>
              </a:rPr>
              <a:t> </a:t>
            </a:r>
            <a:r>
              <a:rPr lang="en-US" b="1" dirty="0">
                <a:latin typeface="Times New Roman" panose="02020603050405020304" pitchFamily="18" charset="0"/>
                <a:ea typeface="Quattrocento" pitchFamily="34" charset="-122"/>
                <a:cs typeface="Times New Roman" panose="02020603050405020304" pitchFamily="18" charset="0"/>
              </a:rPr>
              <a:t>e</a:t>
            </a:r>
            <a:r>
              <a:rPr lang="en-US" sz="1800" b="1" dirty="0">
                <a:latin typeface="Times New Roman" panose="02020603050405020304" pitchFamily="18" charset="0"/>
                <a:ea typeface="Quattrocento" pitchFamily="34" charset="-122"/>
                <a:cs typeface="Times New Roman" panose="02020603050405020304" pitchFamily="18" charset="0"/>
              </a:rPr>
              <a:t>nvironment</a:t>
            </a:r>
            <a:r>
              <a:rPr lang="en-US" b="1" dirty="0">
                <a:latin typeface="Times New Roman" panose="02020603050405020304" pitchFamily="18" charset="0"/>
                <a:ea typeface="Quattrocento" pitchFamily="34" charset="-122"/>
                <a:cs typeface="Times New Roman" panose="02020603050405020304" pitchFamily="18" charset="0"/>
              </a:rPr>
              <a:t>al impact of sox and </a:t>
            </a:r>
            <a:r>
              <a:rPr lang="en-US" b="1" dirty="0" err="1">
                <a:latin typeface="Times New Roman" panose="02020603050405020304" pitchFamily="18" charset="0"/>
                <a:ea typeface="Quattrocento" pitchFamily="34" charset="-122"/>
                <a:cs typeface="Times New Roman" panose="02020603050405020304" pitchFamily="18" charset="0"/>
              </a:rPr>
              <a:t>nox</a:t>
            </a:r>
            <a:r>
              <a:rPr lang="en-US" b="1" dirty="0">
                <a:latin typeface="Times New Roman" panose="02020603050405020304" pitchFamily="18" charset="0"/>
                <a:ea typeface="Quattrocento" pitchFamily="34" charset="-122"/>
                <a:cs typeface="Times New Roman" panose="02020603050405020304" pitchFamily="18" charset="0"/>
              </a:rPr>
              <a:t>  [4] [5]</a:t>
            </a:r>
            <a:endParaRPr lang="en-IN" dirty="0"/>
          </a:p>
        </p:txBody>
      </p:sp>
    </p:spTree>
    <p:extLst>
      <p:ext uri="{BB962C8B-B14F-4D97-AF65-F5344CB8AC3E}">
        <p14:creationId xmlns:p14="http://schemas.microsoft.com/office/powerpoint/2010/main" val="1306769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E7C5EDD1-3FFD-A174-A152-EC74866CF20F}"/>
              </a:ext>
            </a:extLst>
          </p:cNvPr>
          <p:cNvGrpSpPr/>
          <p:nvPr/>
        </p:nvGrpSpPr>
        <p:grpSpPr>
          <a:xfrm>
            <a:off x="71437" y="86997"/>
            <a:ext cx="9001125" cy="900000"/>
            <a:chOff x="0" y="0"/>
            <a:chExt cx="9001125" cy="900000"/>
          </a:xfrm>
        </p:grpSpPr>
        <p:sp>
          <p:nvSpPr>
            <p:cNvPr id="3" name="object 4">
              <a:extLst>
                <a:ext uri="{FF2B5EF4-FFF2-40B4-BE49-F238E27FC236}">
                  <a16:creationId xmlns:a16="http://schemas.microsoft.com/office/drawing/2014/main" id="{787D052E-5519-44D5-5E3A-EE5F3B00D55A}"/>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4B29E76D-59C0-3329-6B4E-D0C6738D9907}"/>
                </a:ext>
              </a:extLst>
            </p:cNvPr>
            <p:cNvPicPr/>
            <p:nvPr/>
          </p:nvPicPr>
          <p:blipFill>
            <a:blip r:embed="rId2" cstate="print"/>
            <a:stretch>
              <a:fillRect/>
            </a:stretch>
          </p:blipFill>
          <p:spPr>
            <a:xfrm>
              <a:off x="0" y="0"/>
              <a:ext cx="900111" cy="900000"/>
            </a:xfrm>
            <a:prstGeom prst="rect">
              <a:avLst/>
            </a:prstGeom>
          </p:spPr>
        </p:pic>
      </p:grpSp>
      <p:sp>
        <p:nvSpPr>
          <p:cNvPr id="5" name="TextBox 4">
            <a:extLst>
              <a:ext uri="{FF2B5EF4-FFF2-40B4-BE49-F238E27FC236}">
                <a16:creationId xmlns:a16="http://schemas.microsoft.com/office/drawing/2014/main" id="{6A7DE653-EC3C-6437-1B72-E04E478D2C88}"/>
              </a:ext>
            </a:extLst>
          </p:cNvPr>
          <p:cNvSpPr txBox="1"/>
          <p:nvPr/>
        </p:nvSpPr>
        <p:spPr>
          <a:xfrm>
            <a:off x="1600200" y="73080"/>
            <a:ext cx="5943600" cy="369332"/>
          </a:xfrm>
          <a:prstGeom prst="rect">
            <a:avLst/>
          </a:prstGeom>
          <a:noFill/>
        </p:spPr>
        <p:txBody>
          <a:bodyPr wrap="square">
            <a:spAutoFit/>
          </a:bodyPr>
          <a:lstStyle/>
          <a:p>
            <a:pPr marL="12700">
              <a:lnSpc>
                <a:spcPct val="100000"/>
              </a:lnSpc>
              <a:spcBef>
                <a:spcPts val="100"/>
              </a:spcBef>
            </a:pPr>
            <a:r>
              <a:rPr lang="en-IN" sz="1800" b="1" i="1" spc="-5" dirty="0">
                <a:latin typeface="Times New Roman"/>
                <a:cs typeface="Times New Roman"/>
              </a:rPr>
              <a:t>Madan</a:t>
            </a:r>
            <a:r>
              <a:rPr lang="en-IN" sz="1800" b="1" i="1" spc="-10" dirty="0">
                <a:latin typeface="Times New Roman"/>
                <a:cs typeface="Times New Roman"/>
              </a:rPr>
              <a:t> </a:t>
            </a:r>
            <a:r>
              <a:rPr lang="en-IN" sz="1800" b="1" i="1" spc="-5" dirty="0">
                <a:latin typeface="Times New Roman"/>
                <a:cs typeface="Times New Roman"/>
              </a:rPr>
              <a:t>Mohan</a:t>
            </a:r>
            <a:r>
              <a:rPr lang="en-IN" sz="1800" b="1" i="1" spc="-10" dirty="0">
                <a:latin typeface="Times New Roman"/>
                <a:cs typeface="Times New Roman"/>
              </a:rPr>
              <a:t> </a:t>
            </a:r>
            <a:r>
              <a:rPr lang="en-IN" sz="1800" b="1" i="1" spc="-5" dirty="0">
                <a:latin typeface="Times New Roman"/>
                <a:cs typeface="Times New Roman"/>
              </a:rPr>
              <a:t>Malaviya </a:t>
            </a:r>
            <a:r>
              <a:rPr lang="en-IN" sz="1800" b="1" i="1" spc="-20" dirty="0">
                <a:latin typeface="Times New Roman"/>
                <a:cs typeface="Times New Roman"/>
              </a:rPr>
              <a:t>Univ.</a:t>
            </a:r>
            <a:r>
              <a:rPr lang="en-IN" sz="1800" b="1" i="1" spc="-5" dirty="0">
                <a:latin typeface="Times New Roman"/>
                <a:cs typeface="Times New Roman"/>
              </a:rPr>
              <a:t> </a:t>
            </a:r>
            <a:r>
              <a:rPr lang="en-IN" sz="1800" b="1" i="1" dirty="0">
                <a:latin typeface="Times New Roman"/>
                <a:cs typeface="Times New Roman"/>
              </a:rPr>
              <a:t>of</a:t>
            </a:r>
            <a:r>
              <a:rPr lang="en-IN" sz="1800" b="1" i="1" spc="-5" dirty="0">
                <a:latin typeface="Times New Roman"/>
                <a:cs typeface="Times New Roman"/>
              </a:rPr>
              <a:t> </a:t>
            </a:r>
            <a:r>
              <a:rPr lang="en-IN" sz="1800" b="1" i="1" spc="-30" dirty="0">
                <a:latin typeface="Times New Roman"/>
                <a:cs typeface="Times New Roman"/>
              </a:rPr>
              <a:t>Technology,</a:t>
            </a:r>
            <a:r>
              <a:rPr lang="en-IN" b="1" i="1" spc="-5" dirty="0">
                <a:latin typeface="Times New Roman"/>
                <a:cs typeface="Times New Roman"/>
              </a:rPr>
              <a:t> Gorakhpur</a:t>
            </a:r>
            <a:endParaRPr lang="en-IN" sz="1800" dirty="0">
              <a:latin typeface="Times New Roman"/>
              <a:cs typeface="Times New Roman"/>
            </a:endParaRPr>
          </a:p>
        </p:txBody>
      </p:sp>
      <p:sp>
        <p:nvSpPr>
          <p:cNvPr id="6" name="object 6">
            <a:extLst>
              <a:ext uri="{FF2B5EF4-FFF2-40B4-BE49-F238E27FC236}">
                <a16:creationId xmlns:a16="http://schemas.microsoft.com/office/drawing/2014/main" id="{9859DE63-92E4-3296-5402-1E1ED664940C}"/>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7" name="Text 0">
            <a:extLst>
              <a:ext uri="{FF2B5EF4-FFF2-40B4-BE49-F238E27FC236}">
                <a16:creationId xmlns:a16="http://schemas.microsoft.com/office/drawing/2014/main" id="{D38A457A-AEF2-8F3A-B74B-9A077ED0DC78}"/>
              </a:ext>
            </a:extLst>
          </p:cNvPr>
          <p:cNvSpPr/>
          <p:nvPr/>
        </p:nvSpPr>
        <p:spPr>
          <a:xfrm>
            <a:off x="800694" y="765810"/>
            <a:ext cx="7352705" cy="504587"/>
          </a:xfrm>
          <a:prstGeom prst="rect">
            <a:avLst/>
          </a:prstGeom>
          <a:noFill/>
          <a:ln/>
        </p:spPr>
        <p:txBody>
          <a:bodyPr wrap="none" lIns="0" tIns="0" rIns="0" bIns="0" rtlCol="0" anchor="t"/>
          <a:lstStyle/>
          <a:p>
            <a:pPr marL="0" indent="0" algn="l">
              <a:lnSpc>
                <a:spcPts val="3950"/>
              </a:lnSpc>
              <a:buNone/>
            </a:pPr>
            <a:r>
              <a:rPr lang="en-US" sz="3000" b="1" dirty="0">
                <a:solidFill>
                  <a:srgbClr val="0070C0"/>
                </a:solidFill>
                <a:latin typeface="Times New Roman" panose="02020603050405020304" pitchFamily="18" charset="0"/>
                <a:cs typeface="Times New Roman" panose="02020603050405020304" pitchFamily="18" charset="0"/>
              </a:rPr>
              <a:t>5. EMISSION</a:t>
            </a:r>
            <a:r>
              <a:rPr lang="en-US" sz="3000" b="1" dirty="0">
                <a:solidFill>
                  <a:srgbClr val="00B0F0"/>
                </a:solidFill>
                <a:latin typeface="Times New Roman" panose="02020603050405020304" pitchFamily="18" charset="0"/>
                <a:cs typeface="Times New Roman" panose="02020603050405020304" pitchFamily="18" charset="0"/>
              </a:rPr>
              <a:t> </a:t>
            </a:r>
            <a:r>
              <a:rPr lang="en-US" sz="3000" b="1" dirty="0">
                <a:solidFill>
                  <a:srgbClr val="0070C0"/>
                </a:solidFill>
                <a:latin typeface="Times New Roman" panose="02020603050405020304" pitchFamily="18" charset="0"/>
                <a:cs typeface="Times New Roman" panose="02020603050405020304" pitchFamily="18" charset="0"/>
              </a:rPr>
              <a:t>MEASURMENT TECHNIQUE </a:t>
            </a:r>
          </a:p>
        </p:txBody>
      </p:sp>
      <p:sp>
        <p:nvSpPr>
          <p:cNvPr id="9" name="TextBox 8">
            <a:extLst>
              <a:ext uri="{FF2B5EF4-FFF2-40B4-BE49-F238E27FC236}">
                <a16:creationId xmlns:a16="http://schemas.microsoft.com/office/drawing/2014/main" id="{4F531754-539B-4472-7A76-796A49416690}"/>
              </a:ext>
            </a:extLst>
          </p:cNvPr>
          <p:cNvSpPr txBox="1"/>
          <p:nvPr/>
        </p:nvSpPr>
        <p:spPr>
          <a:xfrm>
            <a:off x="420347" y="1294280"/>
            <a:ext cx="4576916" cy="369332"/>
          </a:xfrm>
          <a:prstGeom prst="rect">
            <a:avLst/>
          </a:prstGeom>
          <a:noFill/>
        </p:spPr>
        <p:txBody>
          <a:bodyPr wrap="square">
            <a:spAutoFit/>
          </a:bodyPr>
          <a:lstStyle/>
          <a:p>
            <a:r>
              <a:rPr lang="en-US" dirty="0"/>
              <a:t>•</a:t>
            </a:r>
            <a:endParaRPr lang="en-IN" dirty="0"/>
          </a:p>
        </p:txBody>
      </p:sp>
      <p:sp>
        <p:nvSpPr>
          <p:cNvPr id="14" name="TextBox 13">
            <a:extLst>
              <a:ext uri="{FF2B5EF4-FFF2-40B4-BE49-F238E27FC236}">
                <a16:creationId xmlns:a16="http://schemas.microsoft.com/office/drawing/2014/main" id="{E1A426B5-2112-2857-792B-C988265125D4}"/>
              </a:ext>
            </a:extLst>
          </p:cNvPr>
          <p:cNvSpPr txBox="1"/>
          <p:nvPr/>
        </p:nvSpPr>
        <p:spPr>
          <a:xfrm>
            <a:off x="521492" y="1343478"/>
            <a:ext cx="6019418" cy="605294"/>
          </a:xfrm>
          <a:prstGeom prst="rect">
            <a:avLst/>
          </a:prstGeom>
          <a:noFill/>
        </p:spPr>
        <p:txBody>
          <a:bodyPr wrap="square">
            <a:spAutoFit/>
          </a:bodyPr>
          <a:lstStyle/>
          <a:p>
            <a:pPr marL="0" indent="0" algn="ctr">
              <a:lnSpc>
                <a:spcPts val="1950"/>
              </a:lnSpc>
              <a:buNone/>
            </a:pPr>
            <a:r>
              <a:rPr lang="en-US" sz="2000" b="1" dirty="0">
                <a:latin typeface="Times New Roman" panose="02020603050405020304" pitchFamily="18" charset="0"/>
                <a:ea typeface="Quattrocento" pitchFamily="34" charset="-122"/>
                <a:cs typeface="Times New Roman" panose="02020603050405020304" pitchFamily="18" charset="0"/>
              </a:rPr>
              <a:t> Continuous Emission Monitoring Systems (CEMS) :-</a:t>
            </a:r>
            <a:r>
              <a:rPr lang="en-US" sz="1800" b="1" dirty="0">
                <a:solidFill>
                  <a:srgbClr val="F9EEE7"/>
                </a:solidFill>
                <a:latin typeface="Quattrocento" pitchFamily="34" charset="0"/>
                <a:ea typeface="Quattrocento" pitchFamily="34" charset="-122"/>
                <a:cs typeface="Quattrocento" pitchFamily="34" charset="-120"/>
              </a:rPr>
              <a:t>)</a:t>
            </a:r>
            <a:endParaRPr lang="en-US" sz="1800" b="1" dirty="0"/>
          </a:p>
        </p:txBody>
      </p:sp>
      <p:sp>
        <p:nvSpPr>
          <p:cNvPr id="16" name="TextBox 15">
            <a:extLst>
              <a:ext uri="{FF2B5EF4-FFF2-40B4-BE49-F238E27FC236}">
                <a16:creationId xmlns:a16="http://schemas.microsoft.com/office/drawing/2014/main" id="{3D52F952-C5AA-309E-F53A-824AA9555A6E}"/>
              </a:ext>
            </a:extLst>
          </p:cNvPr>
          <p:cNvSpPr txBox="1"/>
          <p:nvPr/>
        </p:nvSpPr>
        <p:spPr>
          <a:xfrm>
            <a:off x="422805" y="1555557"/>
            <a:ext cx="8799700" cy="1203150"/>
          </a:xfrm>
          <a:prstGeom prst="rect">
            <a:avLst/>
          </a:prstGeom>
          <a:noFill/>
        </p:spPr>
        <p:txBody>
          <a:bodyPr wrap="square">
            <a:spAutoFit/>
          </a:bodyPr>
          <a:lstStyle/>
          <a:p>
            <a:pPr marL="0" indent="0" algn="ctr">
              <a:lnSpc>
                <a:spcPts val="2150"/>
              </a:lnSpc>
              <a:buNone/>
            </a:pPr>
            <a:r>
              <a:rPr lang="en-US" sz="1600" dirty="0">
                <a:latin typeface="Times New Roman" panose="02020603050405020304" pitchFamily="18" charset="0"/>
                <a:ea typeface="Quattrocento" pitchFamily="34" charset="-122"/>
                <a:cs typeface="Times New Roman" panose="02020603050405020304" pitchFamily="18" charset="0"/>
              </a:rPr>
              <a:t>CEMS provide real-time data on pollutant concentrations in flue gas. These systems ensure constant   compliance with regulatory limits by continuously measuring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NOx, carbon monoxide, and    particulate matter using various analytical techniques, including gas analyzers and optical methods for dust. [3]</a:t>
            </a:r>
            <a:endParaRPr lang="en-US" sz="1800" dirty="0"/>
          </a:p>
        </p:txBody>
      </p:sp>
      <p:sp>
        <p:nvSpPr>
          <p:cNvPr id="18" name="TextBox 17">
            <a:extLst>
              <a:ext uri="{FF2B5EF4-FFF2-40B4-BE49-F238E27FC236}">
                <a16:creationId xmlns:a16="http://schemas.microsoft.com/office/drawing/2014/main" id="{407F08EE-248C-3E72-3810-1954D29B1B83}"/>
              </a:ext>
            </a:extLst>
          </p:cNvPr>
          <p:cNvSpPr txBox="1"/>
          <p:nvPr/>
        </p:nvSpPr>
        <p:spPr>
          <a:xfrm>
            <a:off x="-544805" y="2773230"/>
            <a:ext cx="4576916" cy="374846"/>
          </a:xfrm>
          <a:prstGeom prst="rect">
            <a:avLst/>
          </a:prstGeom>
          <a:noFill/>
        </p:spPr>
        <p:txBody>
          <a:bodyPr wrap="square">
            <a:spAutoFit/>
          </a:bodyPr>
          <a:lstStyle/>
          <a:p>
            <a:pPr marL="0" indent="0" algn="ctr">
              <a:lnSpc>
                <a:spcPts val="1950"/>
              </a:lnSpc>
              <a:buNone/>
            </a:pPr>
            <a:r>
              <a:rPr lang="en-US" sz="3000" b="1" dirty="0">
                <a:latin typeface="Times New Roman" panose="02020603050405020304" pitchFamily="18" charset="0"/>
                <a:ea typeface="Quattrocento" pitchFamily="34" charset="-122"/>
                <a:cs typeface="Times New Roman" panose="02020603050405020304" pitchFamily="18" charset="0"/>
              </a:rPr>
              <a:t>.</a:t>
            </a:r>
            <a:r>
              <a:rPr lang="en-US" sz="2000" b="1" dirty="0">
                <a:latin typeface="Times New Roman" panose="02020603050405020304" pitchFamily="18" charset="0"/>
                <a:ea typeface="Quattrocento" pitchFamily="34" charset="-122"/>
                <a:cs typeface="Times New Roman" panose="02020603050405020304" pitchFamily="18" charset="0"/>
              </a:rPr>
              <a:t>  Portable </a:t>
            </a:r>
            <a:r>
              <a:rPr lang="en-US" sz="2000" b="1" dirty="0" err="1">
                <a:latin typeface="Times New Roman" panose="02020603050405020304" pitchFamily="18" charset="0"/>
                <a:ea typeface="Quattrocento" pitchFamily="34" charset="-122"/>
                <a:cs typeface="Times New Roman" panose="02020603050405020304" pitchFamily="18" charset="0"/>
              </a:rPr>
              <a:t>Analysers</a:t>
            </a:r>
            <a:r>
              <a:rPr lang="en-US" sz="2000" b="1" dirty="0">
                <a:latin typeface="Times New Roman" panose="02020603050405020304" pitchFamily="18" charset="0"/>
                <a:ea typeface="Quattrocento" pitchFamily="34" charset="-122"/>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F21B6F65-C65D-AB68-D230-A998CFE2773E}"/>
              </a:ext>
            </a:extLst>
          </p:cNvPr>
          <p:cNvSpPr txBox="1"/>
          <p:nvPr/>
        </p:nvSpPr>
        <p:spPr>
          <a:xfrm>
            <a:off x="481164" y="3083669"/>
            <a:ext cx="8591397" cy="1203150"/>
          </a:xfrm>
          <a:prstGeom prst="rect">
            <a:avLst/>
          </a:prstGeom>
          <a:noFill/>
        </p:spPr>
        <p:txBody>
          <a:bodyPr wrap="square">
            <a:spAutoFit/>
          </a:bodyPr>
          <a:lstStyle/>
          <a:p>
            <a:pPr marL="0" indent="0" algn="ctr">
              <a:lnSpc>
                <a:spcPts val="2150"/>
              </a:lnSpc>
              <a:buNone/>
            </a:pPr>
            <a:r>
              <a:rPr lang="en-US" sz="1600" dirty="0">
                <a:latin typeface="Times New Roman" panose="02020603050405020304" pitchFamily="18" charset="0"/>
                <a:ea typeface="Quattrocento" pitchFamily="34" charset="-122"/>
                <a:cs typeface="Times New Roman" panose="02020603050405020304" pitchFamily="18" charset="0"/>
              </a:rPr>
              <a:t>Portable analyzers offer flexibility for spot checks and troubleshooting in various plant locations. They provide immediate, on-site readings, making them invaluable for quick assessments and identifying emission issues before they escalate. While not as precise as CEMS, they offer convenience and rapid data. [5]</a:t>
            </a:r>
            <a:endParaRPr lang="en-US" sz="1800" dirty="0"/>
          </a:p>
        </p:txBody>
      </p:sp>
      <p:sp>
        <p:nvSpPr>
          <p:cNvPr id="26" name="TextBox 25">
            <a:extLst>
              <a:ext uri="{FF2B5EF4-FFF2-40B4-BE49-F238E27FC236}">
                <a16:creationId xmlns:a16="http://schemas.microsoft.com/office/drawing/2014/main" id="{99FA5395-DF72-CE05-3C9A-9036B3338406}"/>
              </a:ext>
            </a:extLst>
          </p:cNvPr>
          <p:cNvSpPr txBox="1"/>
          <p:nvPr/>
        </p:nvSpPr>
        <p:spPr>
          <a:xfrm>
            <a:off x="525427" y="4392118"/>
            <a:ext cx="4881716" cy="369332"/>
          </a:xfrm>
          <a:prstGeom prst="rect">
            <a:avLst/>
          </a:prstGeom>
          <a:noFill/>
        </p:spPr>
        <p:txBody>
          <a:bodyPr wrap="square">
            <a:spAutoFit/>
          </a:bodyPr>
          <a:lstStyle/>
          <a:p>
            <a:r>
              <a:rPr lang="en-US" dirty="0"/>
              <a:t>•</a:t>
            </a:r>
            <a:endParaRPr lang="en-IN" dirty="0"/>
          </a:p>
        </p:txBody>
      </p:sp>
      <p:sp>
        <p:nvSpPr>
          <p:cNvPr id="28" name="TextBox 27">
            <a:extLst>
              <a:ext uri="{FF2B5EF4-FFF2-40B4-BE49-F238E27FC236}">
                <a16:creationId xmlns:a16="http://schemas.microsoft.com/office/drawing/2014/main" id="{F8EAC536-A523-619C-15A7-E9BB02F30C6B}"/>
              </a:ext>
            </a:extLst>
          </p:cNvPr>
          <p:cNvSpPr txBox="1"/>
          <p:nvPr/>
        </p:nvSpPr>
        <p:spPr>
          <a:xfrm>
            <a:off x="-544805" y="4415270"/>
            <a:ext cx="4881716" cy="355867"/>
          </a:xfrm>
          <a:prstGeom prst="rect">
            <a:avLst/>
          </a:prstGeom>
          <a:noFill/>
        </p:spPr>
        <p:txBody>
          <a:bodyPr wrap="square">
            <a:spAutoFit/>
          </a:bodyPr>
          <a:lstStyle/>
          <a:p>
            <a:pPr marL="0" indent="0" algn="ctr">
              <a:lnSpc>
                <a:spcPts val="1950"/>
              </a:lnSpc>
              <a:buNone/>
            </a:pPr>
            <a:r>
              <a:rPr lang="en-US" sz="2000" b="1" dirty="0">
                <a:latin typeface="Times New Roman" panose="02020603050405020304" pitchFamily="18" charset="0"/>
                <a:ea typeface="Quattrocento" pitchFamily="34" charset="-122"/>
                <a:cs typeface="Times New Roman" panose="02020603050405020304" pitchFamily="18" charset="0"/>
              </a:rPr>
              <a:t> Laboratory Analysis</a:t>
            </a:r>
            <a:endParaRPr lang="en-US" sz="2000" b="1"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E0B57DB5-F86F-2A28-324F-FBC76ADFC2FB}"/>
              </a:ext>
            </a:extLst>
          </p:cNvPr>
          <p:cNvSpPr txBox="1"/>
          <p:nvPr/>
        </p:nvSpPr>
        <p:spPr>
          <a:xfrm>
            <a:off x="2819400" y="4371027"/>
            <a:ext cx="4901380" cy="400110"/>
          </a:xfrm>
          <a:prstGeom prst="rect">
            <a:avLst/>
          </a:prstGeom>
          <a:noFill/>
        </p:spPr>
        <p:txBody>
          <a:bodyPr wrap="square">
            <a:spAutoFit/>
          </a:bodyPr>
          <a:lstStyle/>
          <a:p>
            <a:r>
              <a:rPr lang="en-US" sz="1800" dirty="0">
                <a:latin typeface="Times New Roman" panose="02020603050405020304" pitchFamily="18" charset="0"/>
                <a:ea typeface="Quattrocento" pitchFamily="34" charset="-122"/>
                <a:cs typeface="Times New Roman" panose="02020603050405020304" pitchFamily="18" charset="0"/>
              </a:rPr>
              <a:t> </a:t>
            </a:r>
            <a:r>
              <a:rPr lang="en-US" sz="2000" dirty="0">
                <a:latin typeface="Times New Roman" panose="02020603050405020304" pitchFamily="18" charset="0"/>
                <a:ea typeface="Quattrocento" pitchFamily="34" charset="-122"/>
                <a:cs typeface="Times New Roman" panose="02020603050405020304" pitchFamily="18" charset="0"/>
              </a:rPr>
              <a:t>:-</a:t>
            </a:r>
            <a:endParaRPr lang="en-IN" sz="2000" dirty="0"/>
          </a:p>
        </p:txBody>
      </p:sp>
      <p:sp>
        <p:nvSpPr>
          <p:cNvPr id="32" name="TextBox 31">
            <a:extLst>
              <a:ext uri="{FF2B5EF4-FFF2-40B4-BE49-F238E27FC236}">
                <a16:creationId xmlns:a16="http://schemas.microsoft.com/office/drawing/2014/main" id="{CC05AE20-4705-68AE-1BD7-3B6F85E7C45A}"/>
              </a:ext>
            </a:extLst>
          </p:cNvPr>
          <p:cNvSpPr txBox="1"/>
          <p:nvPr/>
        </p:nvSpPr>
        <p:spPr>
          <a:xfrm>
            <a:off x="78506" y="4729495"/>
            <a:ext cx="9143999" cy="1207254"/>
          </a:xfrm>
          <a:prstGeom prst="rect">
            <a:avLst/>
          </a:prstGeom>
          <a:noFill/>
        </p:spPr>
        <p:txBody>
          <a:bodyPr wrap="square">
            <a:spAutoFit/>
          </a:bodyPr>
          <a:lstStyle/>
          <a:p>
            <a:pPr marL="0" indent="0" algn="ctr">
              <a:lnSpc>
                <a:spcPts val="2150"/>
              </a:lnSpc>
              <a:buNone/>
            </a:pPr>
            <a:r>
              <a:rPr lang="en-US" sz="1600" dirty="0">
                <a:latin typeface="Times New Roman" panose="02020603050405020304" pitchFamily="18" charset="0"/>
                <a:ea typeface="Quattrocento" pitchFamily="34" charset="-122"/>
                <a:cs typeface="Times New Roman" panose="02020603050405020304" pitchFamily="18" charset="0"/>
              </a:rPr>
              <a:t>For precise and detailed pollutant composition, samples are collected from stacks and transported to a laboratory. Advanced analytical instruments, such as gas chromatographs and mass spectrometers, are employed to determine the exact concentration and chemical makeup of various pollutants, providing highly accurate data for research and compliance verification. [5]</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339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0"/>
            <a:ext cx="9001125" cy="900000"/>
            <a:chOff x="0" y="0"/>
            <a:chExt cx="9001125" cy="9000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00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3695"/>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10</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152400" y="1175636"/>
            <a:ext cx="8143874" cy="569387"/>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6. </a:t>
            </a:r>
            <a:r>
              <a:rPr lang="en-US" sz="3000" b="1" spc="-5" dirty="0" err="1">
                <a:solidFill>
                  <a:srgbClr val="0070C0"/>
                </a:solidFill>
                <a:latin typeface="Times New Roman" panose="02020603050405020304" pitchFamily="18" charset="0"/>
                <a:cs typeface="Times New Roman" panose="02020603050405020304" pitchFamily="18" charset="0"/>
              </a:rPr>
              <a:t>SOx</a:t>
            </a:r>
            <a:r>
              <a:rPr lang="en-US" sz="3000" b="1" spc="-5" dirty="0">
                <a:solidFill>
                  <a:srgbClr val="0070C0"/>
                </a:solidFill>
                <a:latin typeface="Times New Roman" panose="02020603050405020304" pitchFamily="18" charset="0"/>
                <a:cs typeface="Times New Roman" panose="02020603050405020304" pitchFamily="18" charset="0"/>
              </a:rPr>
              <a:t> CONTROL TECHNIQUE </a:t>
            </a:r>
            <a:endParaRPr lang="en-US" sz="3100" b="1" spc="-5" dirty="0">
              <a:solidFill>
                <a:srgbClr val="0070C0"/>
              </a:solidFill>
              <a:latin typeface="Times New Roman" panose="02020603050405020304" pitchFamily="18" charset="0"/>
              <a:cs typeface="Times New Roman" panose="02020603050405020304" pitchFamily="18" charset="0"/>
            </a:endParaRPr>
          </a:p>
        </p:txBody>
      </p:sp>
      <p:sp>
        <p:nvSpPr>
          <p:cNvPr id="11" name="Text Placeholder 10">
            <a:extLst>
              <a:ext uri="{FF2B5EF4-FFF2-40B4-BE49-F238E27FC236}">
                <a16:creationId xmlns:a16="http://schemas.microsoft.com/office/drawing/2014/main" id="{6263F509-D549-5692-D949-78CFB2DEBFC8}"/>
              </a:ext>
            </a:extLst>
          </p:cNvPr>
          <p:cNvSpPr>
            <a:spLocks noGrp="1"/>
          </p:cNvSpPr>
          <p:nvPr>
            <p:ph type="body" idx="1"/>
          </p:nvPr>
        </p:nvSpPr>
        <p:spPr>
          <a:xfrm>
            <a:off x="242596" y="2116808"/>
            <a:ext cx="8596604" cy="1883657"/>
          </a:xfrm>
        </p:spPr>
        <p:txBody>
          <a:bodyPr/>
          <a:lstStyle/>
          <a:p>
            <a:pPr algn="l">
              <a:lnSpc>
                <a:spcPct val="150000"/>
              </a:lnSpc>
            </a:pPr>
            <a:r>
              <a:rPr lang="en-US" sz="1600" dirty="0">
                <a:latin typeface="Times New Roman" panose="02020603050405020304" pitchFamily="18" charset="0"/>
                <a:ea typeface="Quattrocento" pitchFamily="34" charset="-122"/>
                <a:cs typeface="Times New Roman" panose="02020603050405020304" pitchFamily="18" charset="0"/>
              </a:rPr>
              <a:t>At the thermal Power plant, the Flue Gas </a:t>
            </a:r>
            <a:r>
              <a:rPr lang="en-US" sz="1600" dirty="0" err="1">
                <a:latin typeface="Times New Roman" panose="02020603050405020304" pitchFamily="18" charset="0"/>
                <a:ea typeface="Quattrocento" pitchFamily="34" charset="-122"/>
                <a:cs typeface="Times New Roman" panose="02020603050405020304" pitchFamily="18" charset="0"/>
              </a:rPr>
              <a:t>Desulphurisation</a:t>
            </a:r>
            <a:r>
              <a:rPr lang="en-US" sz="1600" dirty="0">
                <a:latin typeface="Times New Roman" panose="02020603050405020304" pitchFamily="18" charset="0"/>
                <a:ea typeface="Quattrocento" pitchFamily="34" charset="-122"/>
                <a:cs typeface="Times New Roman" panose="02020603050405020304" pitchFamily="18" charset="0"/>
              </a:rPr>
              <a:t> (FGD) system was meticulously integrated into the plant's design from its inception. This proactive approach ensures seamless operation and maximum efficiency in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removal, making it a critical component  their environmental control strategy. [1]</a:t>
            </a:r>
            <a:endParaRPr lang="en-US" sz="1600"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E401603-C7D8-F3DB-6C9B-DC5E14755DF1}"/>
              </a:ext>
            </a:extLst>
          </p:cNvPr>
          <p:cNvSpPr txBox="1"/>
          <p:nvPr/>
        </p:nvSpPr>
        <p:spPr>
          <a:xfrm>
            <a:off x="689377" y="2803773"/>
            <a:ext cx="184731" cy="861774"/>
          </a:xfrm>
          <a:prstGeom prst="rect">
            <a:avLst/>
          </a:prstGeom>
          <a:noFill/>
        </p:spPr>
        <p:txBody>
          <a:bodyPr wrap="none" rtlCol="0">
            <a:spAutoFit/>
          </a:bodyPr>
          <a:lstStyle/>
          <a:p>
            <a:pPr>
              <a:lnSpc>
                <a:spcPct val="150000"/>
              </a:lnSpc>
            </a:pPr>
            <a:endParaRPr lang="en-IN" sz="2000" dirty="0">
              <a:latin typeface="Times New Roman" panose="02020603050405020304" pitchFamily="18" charset="0"/>
              <a:cs typeface="Times New Roman" panose="02020603050405020304" pitchFamily="18" charset="0"/>
            </a:endParaRPr>
          </a:p>
          <a:p>
            <a:endParaRPr lang="en-IN" sz="2000" dirty="0"/>
          </a:p>
        </p:txBody>
      </p:sp>
      <p:sp>
        <p:nvSpPr>
          <p:cNvPr id="12" name="TextBox 11">
            <a:extLst>
              <a:ext uri="{FF2B5EF4-FFF2-40B4-BE49-F238E27FC236}">
                <a16:creationId xmlns:a16="http://schemas.microsoft.com/office/drawing/2014/main" id="{1E1F9DF8-D191-3963-5B0E-51318813A077}"/>
              </a:ext>
            </a:extLst>
          </p:cNvPr>
          <p:cNvSpPr txBox="1"/>
          <p:nvPr/>
        </p:nvSpPr>
        <p:spPr>
          <a:xfrm>
            <a:off x="152399" y="1753646"/>
            <a:ext cx="4576916" cy="335989"/>
          </a:xfrm>
          <a:prstGeom prst="rect">
            <a:avLst/>
          </a:prstGeom>
          <a:noFill/>
        </p:spPr>
        <p:txBody>
          <a:bodyPr wrap="square">
            <a:spAutoFit/>
          </a:bodyPr>
          <a:lstStyle/>
          <a:p>
            <a:pPr marL="0" indent="0" algn="l">
              <a:lnSpc>
                <a:spcPts val="1900"/>
              </a:lnSpc>
              <a:buNone/>
            </a:pPr>
            <a:r>
              <a:rPr lang="en-US" sz="2000" b="1" dirty="0">
                <a:latin typeface="Times New Roman" panose="02020603050405020304" pitchFamily="18" charset="0"/>
                <a:ea typeface="Tahoma" panose="020B0604030504040204" pitchFamily="34" charset="0"/>
                <a:cs typeface="Times New Roman" panose="02020603050405020304" pitchFamily="18" charset="0"/>
              </a:rPr>
              <a:t>Integrated FGD System :-   </a:t>
            </a:r>
          </a:p>
        </p:txBody>
      </p:sp>
      <p:sp>
        <p:nvSpPr>
          <p:cNvPr id="16" name="TextBox 15">
            <a:extLst>
              <a:ext uri="{FF2B5EF4-FFF2-40B4-BE49-F238E27FC236}">
                <a16:creationId xmlns:a16="http://schemas.microsoft.com/office/drawing/2014/main" id="{C687BB83-AFF8-775F-D36C-0FC87D75C88F}"/>
              </a:ext>
            </a:extLst>
          </p:cNvPr>
          <p:cNvSpPr txBox="1"/>
          <p:nvPr/>
        </p:nvSpPr>
        <p:spPr>
          <a:xfrm>
            <a:off x="145025" y="4396836"/>
            <a:ext cx="4576916" cy="346249"/>
          </a:xfrm>
          <a:prstGeom prst="rect">
            <a:avLst/>
          </a:prstGeom>
          <a:noFill/>
        </p:spPr>
        <p:txBody>
          <a:bodyPr wrap="square">
            <a:spAutoFit/>
          </a:bodyPr>
          <a:lstStyle/>
          <a:p>
            <a:pPr marL="0" indent="0" algn="l">
              <a:lnSpc>
                <a:spcPts val="1900"/>
              </a:lnSpc>
              <a:buNone/>
            </a:pPr>
            <a:r>
              <a:rPr lang="en-US" sz="2000" b="1" dirty="0">
                <a:latin typeface="Times New Roman" panose="02020603050405020304" pitchFamily="18" charset="0"/>
                <a:ea typeface="Quattrocento" pitchFamily="34" charset="-122"/>
                <a:cs typeface="Times New Roman" panose="02020603050405020304" pitchFamily="18" charset="0"/>
              </a:rPr>
              <a:t>Absorber Tower Design :-</a:t>
            </a:r>
            <a:endParaRPr lang="en-US" sz="20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8AACA7A-5900-4CF6-ADE2-3040164DE95A}"/>
              </a:ext>
            </a:extLst>
          </p:cNvPr>
          <p:cNvSpPr txBox="1"/>
          <p:nvPr/>
        </p:nvSpPr>
        <p:spPr>
          <a:xfrm>
            <a:off x="145025" y="4833002"/>
            <a:ext cx="8694175" cy="1150315"/>
          </a:xfrm>
          <a:prstGeom prst="rect">
            <a:avLst/>
          </a:prstGeom>
          <a:noFill/>
        </p:spPr>
        <p:txBody>
          <a:bodyPr wrap="square">
            <a:spAutoFit/>
          </a:bodyPr>
          <a:lstStyle/>
          <a:p>
            <a:pPr marL="0" indent="0" algn="l">
              <a:lnSpc>
                <a:spcPts val="2100"/>
              </a:lnSpc>
              <a:buNone/>
            </a:pPr>
            <a:r>
              <a:rPr lang="en-US" sz="1600" dirty="0">
                <a:latin typeface="Times New Roman" panose="02020603050405020304" pitchFamily="18" charset="0"/>
                <a:ea typeface="Quattrocento" pitchFamily="34" charset="-122"/>
                <a:cs typeface="Times New Roman" panose="02020603050405020304" pitchFamily="18" charset="0"/>
              </a:rPr>
              <a:t>The absorber tower, a central component of the FGD system, is engineered to optimize the contact between the flue gas and the limestone slurry. Its advanced design facilitates efficient chemical reactions, converting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into gypsum and effectively capturing pollutants before they are released into the atmosphere. [6]</a:t>
            </a:r>
            <a:endParaRPr lang="en-US" sz="1600" dirty="0">
              <a:latin typeface="Times New Roman" panose="02020603050405020304" pitchFamily="18" charset="0"/>
              <a:cs typeface="Times New Roman" panose="02020603050405020304" pitchFamily="18" charset="0"/>
            </a:endParaRPr>
          </a:p>
        </p:txBody>
      </p:sp>
      <p:sp>
        <p:nvSpPr>
          <p:cNvPr id="7" name="object 6">
            <a:extLst>
              <a:ext uri="{FF2B5EF4-FFF2-40B4-BE49-F238E27FC236}">
                <a16:creationId xmlns:a16="http://schemas.microsoft.com/office/drawing/2014/main" id="{230AC78B-5980-2D3A-76AB-59432444340F}"/>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Tree>
    <p:extLst>
      <p:ext uri="{BB962C8B-B14F-4D97-AF65-F5344CB8AC3E}">
        <p14:creationId xmlns:p14="http://schemas.microsoft.com/office/powerpoint/2010/main" val="2723375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0"/>
            <a:ext cx="9001125" cy="903600"/>
            <a:chOff x="0" y="0"/>
            <a:chExt cx="9001125" cy="9036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36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11</a:t>
            </a:fld>
            <a:endParaRPr dirty="0"/>
          </a:p>
        </p:txBody>
      </p:sp>
      <p:sp>
        <p:nvSpPr>
          <p:cNvPr id="13" name="Text Placeholder 12">
            <a:extLst>
              <a:ext uri="{FF2B5EF4-FFF2-40B4-BE49-F238E27FC236}">
                <a16:creationId xmlns:a16="http://schemas.microsoft.com/office/drawing/2014/main" id="{13E1DA90-7E40-3699-64DA-EAF98B96F5E6}"/>
              </a:ext>
            </a:extLst>
          </p:cNvPr>
          <p:cNvSpPr>
            <a:spLocks noGrp="1"/>
          </p:cNvSpPr>
          <p:nvPr>
            <p:ph type="body" idx="1"/>
          </p:nvPr>
        </p:nvSpPr>
        <p:spPr>
          <a:xfrm>
            <a:off x="375798" y="917133"/>
            <a:ext cx="8202489" cy="406330"/>
          </a:xfrm>
        </p:spPr>
        <p:txBody>
          <a:bodyPr/>
          <a:lstStyle/>
          <a:p>
            <a:pPr>
              <a:lnSpc>
                <a:spcPct val="150000"/>
              </a:lnSpc>
            </a:pPr>
            <a:r>
              <a:rPr lang="en-US" b="1" dirty="0">
                <a:solidFill>
                  <a:srgbClr val="333333"/>
                </a:solidFill>
                <a:latin typeface="Times New Roman" panose="02020603050405020304" pitchFamily="18" charset="0"/>
                <a:cs typeface="Times New Roman" panose="02020603050405020304" pitchFamily="18" charset="0"/>
              </a:rPr>
              <a:t>FGD SYSTEM COMPONENTS AND WORKING PROCESS :- </a:t>
            </a:r>
            <a:endParaRPr lang="en-US" b="1" i="0" dirty="0">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737745E-41FF-E8E4-C28A-2F389FB1B5F2}"/>
              </a:ext>
            </a:extLst>
          </p:cNvPr>
          <p:cNvSpPr txBox="1"/>
          <p:nvPr/>
        </p:nvSpPr>
        <p:spPr>
          <a:xfrm>
            <a:off x="461485" y="4241260"/>
            <a:ext cx="4580428"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(1) FLUE GAS INLET</a:t>
            </a:r>
          </a:p>
        </p:txBody>
      </p:sp>
      <p:sp>
        <p:nvSpPr>
          <p:cNvPr id="18" name="TextBox 17">
            <a:extLst>
              <a:ext uri="{FF2B5EF4-FFF2-40B4-BE49-F238E27FC236}">
                <a16:creationId xmlns:a16="http://schemas.microsoft.com/office/drawing/2014/main" id="{DC19925D-DDA6-4C57-9DCA-3E98038184F1}"/>
              </a:ext>
            </a:extLst>
          </p:cNvPr>
          <p:cNvSpPr txBox="1"/>
          <p:nvPr/>
        </p:nvSpPr>
        <p:spPr>
          <a:xfrm>
            <a:off x="434375" y="4555605"/>
            <a:ext cx="457691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(2) ABSORBER TOWER (SCRUBBER)</a:t>
            </a:r>
          </a:p>
        </p:txBody>
      </p:sp>
      <p:sp>
        <p:nvSpPr>
          <p:cNvPr id="20" name="TextBox 19">
            <a:extLst>
              <a:ext uri="{FF2B5EF4-FFF2-40B4-BE49-F238E27FC236}">
                <a16:creationId xmlns:a16="http://schemas.microsoft.com/office/drawing/2014/main" id="{2A35DBD5-90FA-E040-0A80-3A06E75FAA52}"/>
              </a:ext>
            </a:extLst>
          </p:cNvPr>
          <p:cNvSpPr txBox="1"/>
          <p:nvPr/>
        </p:nvSpPr>
        <p:spPr>
          <a:xfrm>
            <a:off x="434375" y="4894159"/>
            <a:ext cx="5567802"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(3) CHEMICAL REACTION </a:t>
            </a:r>
          </a:p>
          <a:p>
            <a:r>
              <a:rPr lang="en-US" sz="1600" dirty="0">
                <a:latin typeface="Times New Roman" panose="02020603050405020304" pitchFamily="18" charset="0"/>
                <a:cs typeface="Times New Roman" panose="02020603050405020304" pitchFamily="18" charset="0"/>
              </a:rPr>
              <a:t> </a:t>
            </a:r>
            <a:r>
              <a:rPr lang="en-US" sz="1600" b="1" i="1" u="sng" dirty="0" err="1">
                <a:latin typeface="Times New Roman" panose="02020603050405020304" pitchFamily="18" charset="0"/>
                <a:cs typeface="Times New Roman" panose="02020603050405020304" pitchFamily="18" charset="0"/>
              </a:rPr>
              <a:t>CaCO</a:t>
            </a:r>
            <a:r>
              <a:rPr lang="en-US" sz="1600" b="1" i="1" u="sng" dirty="0">
                <a:latin typeface="Times New Roman" panose="02020603050405020304" pitchFamily="18" charset="0"/>
                <a:cs typeface="Times New Roman" panose="02020603050405020304" pitchFamily="18" charset="0"/>
              </a:rPr>
              <a:t>₃ + SO₂ + ½ O₂ + 2H₂O → </a:t>
            </a:r>
            <a:r>
              <a:rPr lang="en-US" sz="1600" b="1" i="1" u="sng" dirty="0" err="1">
                <a:latin typeface="Times New Roman" panose="02020603050405020304" pitchFamily="18" charset="0"/>
                <a:cs typeface="Times New Roman" panose="02020603050405020304" pitchFamily="18" charset="0"/>
              </a:rPr>
              <a:t>CaSO</a:t>
            </a:r>
            <a:r>
              <a:rPr lang="en-US" sz="1600" b="1" i="1" u="sng" dirty="0">
                <a:latin typeface="Times New Roman" panose="02020603050405020304" pitchFamily="18" charset="0"/>
                <a:cs typeface="Times New Roman" panose="02020603050405020304" pitchFamily="18" charset="0"/>
              </a:rPr>
              <a:t>₄·2H₂O (Gypsum)</a:t>
            </a:r>
          </a:p>
        </p:txBody>
      </p:sp>
      <p:sp>
        <p:nvSpPr>
          <p:cNvPr id="22" name="TextBox 21">
            <a:extLst>
              <a:ext uri="{FF2B5EF4-FFF2-40B4-BE49-F238E27FC236}">
                <a16:creationId xmlns:a16="http://schemas.microsoft.com/office/drawing/2014/main" id="{B864634E-D817-EA80-05F3-35469F4E104D}"/>
              </a:ext>
            </a:extLst>
          </p:cNvPr>
          <p:cNvSpPr txBox="1"/>
          <p:nvPr/>
        </p:nvSpPr>
        <p:spPr>
          <a:xfrm>
            <a:off x="421200" y="5454725"/>
            <a:ext cx="457691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(4) DEMISTER SECTION </a:t>
            </a:r>
          </a:p>
        </p:txBody>
      </p:sp>
      <p:sp>
        <p:nvSpPr>
          <p:cNvPr id="24" name="TextBox 23">
            <a:extLst>
              <a:ext uri="{FF2B5EF4-FFF2-40B4-BE49-F238E27FC236}">
                <a16:creationId xmlns:a16="http://schemas.microsoft.com/office/drawing/2014/main" id="{D533CFDB-23F4-0ACC-DA12-61CF6E4B8C58}"/>
              </a:ext>
            </a:extLst>
          </p:cNvPr>
          <p:cNvSpPr txBox="1"/>
          <p:nvPr/>
        </p:nvSpPr>
        <p:spPr>
          <a:xfrm>
            <a:off x="421200" y="5831059"/>
            <a:ext cx="5112545" cy="563616"/>
          </a:xfrm>
          <a:prstGeom prst="rect">
            <a:avLst/>
          </a:prstGeom>
          <a:noFill/>
        </p:spPr>
        <p:txBody>
          <a:bodyPr wrap="square">
            <a:spAutoFit/>
          </a:bodyPr>
          <a:lstStyle/>
          <a:p>
            <a:pPr>
              <a:lnSpc>
                <a:spcPts val="1150"/>
              </a:lnSpc>
            </a:pPr>
            <a:r>
              <a:rPr lang="en-US" sz="1600" dirty="0">
                <a:latin typeface="Times New Roman" panose="02020603050405020304" pitchFamily="18" charset="0"/>
                <a:ea typeface="Quattrocento" pitchFamily="34" charset="-122"/>
                <a:cs typeface="Times New Roman" panose="02020603050405020304" pitchFamily="18" charset="0"/>
              </a:rPr>
              <a:t>(5) SLURRY RECIRCULATION BLEED </a:t>
            </a:r>
          </a:p>
          <a:p>
            <a:pPr>
              <a:lnSpc>
                <a:spcPts val="1150"/>
              </a:lnSpc>
            </a:pPr>
            <a:endParaRPr lang="en-US" sz="1600" dirty="0">
              <a:latin typeface="Times New Roman" panose="02020603050405020304" pitchFamily="18" charset="0"/>
              <a:ea typeface="Quattrocento" pitchFamily="34" charset="-122"/>
              <a:cs typeface="Times New Roman" panose="02020603050405020304" pitchFamily="18" charset="0"/>
            </a:endParaRPr>
          </a:p>
          <a:p>
            <a:pPr>
              <a:lnSpc>
                <a:spcPts val="1150"/>
              </a:lnSpc>
            </a:pPr>
            <a:r>
              <a:rPr lang="en-US" sz="1600" dirty="0">
                <a:latin typeface="Times New Roman" panose="02020603050405020304" pitchFamily="18" charset="0"/>
                <a:cs typeface="Times New Roman" panose="02020603050405020304" pitchFamily="18" charset="0"/>
              </a:rPr>
              <a:t>CLEAN FLUE GAS EXIT [2] </a:t>
            </a:r>
            <a:endParaRPr lang="en-US" sz="1600" dirty="0">
              <a:latin typeface="Times New Roman" panose="02020603050405020304" pitchFamily="18" charset="0"/>
              <a:ea typeface="Quattrocento" pitchFamily="34" charset="-122"/>
              <a:cs typeface="Times New Roman" panose="02020603050405020304" pitchFamily="18" charset="0"/>
            </a:endParaRPr>
          </a:p>
        </p:txBody>
      </p:sp>
      <p:pic>
        <p:nvPicPr>
          <p:cNvPr id="4098" name="Picture 2" descr="FGD in a coal fired power generation plant.">
            <a:extLst>
              <a:ext uri="{FF2B5EF4-FFF2-40B4-BE49-F238E27FC236}">
                <a16:creationId xmlns:a16="http://schemas.microsoft.com/office/drawing/2014/main" id="{9A64A4C1-00AC-009F-E120-58BE4C790515}"/>
              </a:ext>
            </a:extLst>
          </p:cNvPr>
          <p:cNvPicPr>
            <a:picLocks noChangeAspect="1" noChangeArrowheads="1"/>
          </p:cNvPicPr>
          <p:nvPr/>
        </p:nvPicPr>
        <p:blipFill>
          <a:blip r:embed="rId3">
            <a:grayscl/>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450055" y="1337409"/>
            <a:ext cx="6196488" cy="2377628"/>
          </a:xfrm>
          <a:prstGeom prst="rect">
            <a:avLst/>
          </a:prstGeom>
          <a:noFill/>
        </p:spPr>
      </p:pic>
      <p:sp>
        <p:nvSpPr>
          <p:cNvPr id="12" name="TextBox 11">
            <a:extLst>
              <a:ext uri="{FF2B5EF4-FFF2-40B4-BE49-F238E27FC236}">
                <a16:creationId xmlns:a16="http://schemas.microsoft.com/office/drawing/2014/main" id="{D82DE198-8EA4-BCB5-ED94-935B9DEEEB71}"/>
              </a:ext>
            </a:extLst>
          </p:cNvPr>
          <p:cNvSpPr txBox="1"/>
          <p:nvPr/>
        </p:nvSpPr>
        <p:spPr>
          <a:xfrm>
            <a:off x="2212022" y="3721038"/>
            <a:ext cx="4577080" cy="369332"/>
          </a:xfrm>
          <a:prstGeom prst="rect">
            <a:avLst/>
          </a:prstGeom>
          <a:noFill/>
        </p:spPr>
        <p:txBody>
          <a:bodyPr wrap="square">
            <a:spAutoFit/>
          </a:bodyPr>
          <a:lstStyle/>
          <a:p>
            <a:r>
              <a:rPr lang="en-US" sz="1800" b="1" dirty="0">
                <a:latin typeface="Times New Roman" panose="02020603050405020304" pitchFamily="18" charset="0"/>
                <a:ea typeface="Quattrocento" pitchFamily="34" charset="-122"/>
                <a:cs typeface="Times New Roman" panose="02020603050405020304" pitchFamily="18" charset="0"/>
              </a:rPr>
              <a:t>fig(</a:t>
            </a:r>
            <a:r>
              <a:rPr lang="en-US" b="1" dirty="0">
                <a:latin typeface="Times New Roman" panose="02020603050405020304" pitchFamily="18" charset="0"/>
                <a:ea typeface="Quattrocento" pitchFamily="34" charset="-122"/>
                <a:cs typeface="Times New Roman" panose="02020603050405020304" pitchFamily="18" charset="0"/>
              </a:rPr>
              <a:t>4) component of FGD system [1] [7] </a:t>
            </a:r>
            <a:endParaRPr lang="en-IN" dirty="0"/>
          </a:p>
        </p:txBody>
      </p:sp>
    </p:spTree>
    <p:extLst>
      <p:ext uri="{BB962C8B-B14F-4D97-AF65-F5344CB8AC3E}">
        <p14:creationId xmlns:p14="http://schemas.microsoft.com/office/powerpoint/2010/main" val="3456593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1"/>
            <a:ext cx="9001125" cy="903600"/>
            <a:chOff x="0" y="-1"/>
            <a:chExt cx="9001125" cy="903600"/>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1"/>
              <a:ext cx="900111" cy="903600"/>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12</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1000126" y="368965"/>
            <a:ext cx="8143874" cy="569387"/>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7. NOx CONTROL TECHNIQUES</a:t>
            </a:r>
          </a:p>
        </p:txBody>
      </p:sp>
      <p:graphicFrame>
        <p:nvGraphicFramePr>
          <p:cNvPr id="15" name="Table 14">
            <a:extLst>
              <a:ext uri="{FF2B5EF4-FFF2-40B4-BE49-F238E27FC236}">
                <a16:creationId xmlns:a16="http://schemas.microsoft.com/office/drawing/2014/main" id="{535C5390-1063-C53C-8CBA-691DF8752FED}"/>
              </a:ext>
            </a:extLst>
          </p:cNvPr>
          <p:cNvGraphicFramePr>
            <a:graphicFrameLocks noGrp="1"/>
          </p:cNvGraphicFramePr>
          <p:nvPr>
            <p:extLst>
              <p:ext uri="{D42A27DB-BD31-4B8C-83A1-F6EECF244321}">
                <p14:modId xmlns:p14="http://schemas.microsoft.com/office/powerpoint/2010/main" val="1920986777"/>
              </p:ext>
            </p:extLst>
          </p:nvPr>
        </p:nvGraphicFramePr>
        <p:xfrm>
          <a:off x="146684" y="948225"/>
          <a:ext cx="8886395" cy="5765371"/>
        </p:xfrm>
        <a:graphic>
          <a:graphicData uri="http://schemas.openxmlformats.org/drawingml/2006/table">
            <a:tbl>
              <a:tblPr/>
              <a:tblGrid>
                <a:gridCol w="4180911">
                  <a:extLst>
                    <a:ext uri="{9D8B030D-6E8A-4147-A177-3AD203B41FA5}">
                      <a16:colId xmlns:a16="http://schemas.microsoft.com/office/drawing/2014/main" val="298119243"/>
                    </a:ext>
                  </a:extLst>
                </a:gridCol>
                <a:gridCol w="4705484">
                  <a:extLst>
                    <a:ext uri="{9D8B030D-6E8A-4147-A177-3AD203B41FA5}">
                      <a16:colId xmlns:a16="http://schemas.microsoft.com/office/drawing/2014/main" val="3538139049"/>
                    </a:ext>
                  </a:extLst>
                </a:gridCol>
              </a:tblGrid>
              <a:tr h="370532">
                <a:tc>
                  <a:txBody>
                    <a:bodyPr/>
                    <a:lstStyle/>
                    <a:p>
                      <a:r>
                        <a:rPr lang="en-IN" dirty="0">
                          <a:solidFill>
                            <a:schemeClr val="tx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4264606431"/>
                  </a:ext>
                </a:extLst>
              </a:tr>
              <a:tr h="846386">
                <a:tc>
                  <a:txBody>
                    <a:bodyPr/>
                    <a:lstStyle/>
                    <a:p>
                      <a:r>
                        <a:rPr lang="en-IN" b="1" dirty="0">
                          <a:solidFill>
                            <a:schemeClr val="tx1"/>
                          </a:solidFill>
                          <a:latin typeface="Times New Roman" panose="02020603050405020304" pitchFamily="18" charset="0"/>
                          <a:cs typeface="Times New Roman" panose="02020603050405020304" pitchFamily="18" charset="0"/>
                        </a:rPr>
                        <a:t>Ammonia Storage and Injection System</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Stores aqueous ammonia or urea solution and injects it into the flue gas stream.</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790049792"/>
                  </a:ext>
                </a:extLst>
              </a:tr>
              <a:tr h="648430">
                <a:tc>
                  <a:txBody>
                    <a:bodyPr/>
                    <a:lstStyle/>
                    <a:p>
                      <a:r>
                        <a:rPr lang="en-IN" b="1" dirty="0">
                          <a:solidFill>
                            <a:schemeClr val="tx1"/>
                          </a:solidFill>
                          <a:latin typeface="Times New Roman" panose="02020603050405020304" pitchFamily="18" charset="0"/>
                          <a:cs typeface="Times New Roman" panose="02020603050405020304" pitchFamily="18" charset="0"/>
                        </a:rPr>
                        <a:t>Ammonia Vaporizer &amp; Mixing Unit</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Converts liquid ammonia into vapor and mixes it uniformly with flue gas.</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320458480"/>
                  </a:ext>
                </a:extLst>
              </a:tr>
              <a:tr h="1100301">
                <a:tc>
                  <a:txBody>
                    <a:bodyPr/>
                    <a:lstStyle/>
                    <a:p>
                      <a:r>
                        <a:rPr lang="en-IN" b="1" dirty="0">
                          <a:solidFill>
                            <a:schemeClr val="tx1"/>
                          </a:solidFill>
                          <a:latin typeface="Times New Roman" panose="02020603050405020304" pitchFamily="18" charset="0"/>
                          <a:cs typeface="Times New Roman" panose="02020603050405020304" pitchFamily="18" charset="0"/>
                        </a:rPr>
                        <a:t>Catalytic Reactor Housing</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Contains </a:t>
                      </a:r>
                      <a:r>
                        <a:rPr lang="en-IN" b="1" dirty="0">
                          <a:solidFill>
                            <a:schemeClr val="tx1"/>
                          </a:solidFill>
                          <a:latin typeface="Times New Roman" panose="02020603050405020304" pitchFamily="18" charset="0"/>
                          <a:cs typeface="Times New Roman" panose="02020603050405020304" pitchFamily="18" charset="0"/>
                        </a:rPr>
                        <a:t>catalyst modules</a:t>
                      </a:r>
                      <a:r>
                        <a:rPr lang="en-IN" dirty="0">
                          <a:solidFill>
                            <a:schemeClr val="tx1"/>
                          </a:solidFill>
                          <a:latin typeface="Times New Roman" panose="02020603050405020304" pitchFamily="18" charset="0"/>
                          <a:cs typeface="Times New Roman" panose="02020603050405020304" pitchFamily="18" charset="0"/>
                        </a:rPr>
                        <a:t> arranged in layers (typically vanadium-based). This is where the chemical reduction of NOx happens.</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2464895965"/>
                  </a:ext>
                </a:extLst>
              </a:tr>
              <a:tr h="1100301">
                <a:tc>
                  <a:txBody>
                    <a:bodyPr/>
                    <a:lstStyle/>
                    <a:p>
                      <a:r>
                        <a:rPr lang="en-IN" b="1" dirty="0">
                          <a:solidFill>
                            <a:schemeClr val="tx1"/>
                          </a:solidFill>
                          <a:latin typeface="Times New Roman" panose="02020603050405020304" pitchFamily="18" charset="0"/>
                          <a:cs typeface="Times New Roman" panose="02020603050405020304" pitchFamily="18" charset="0"/>
                        </a:rPr>
                        <a:t>NOx Sensors (CEMS)</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Monitors inlet and outlet NOx concentration to optimize injection rate and ensure regulatory compliance.</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1512950305"/>
                  </a:ext>
                </a:extLst>
              </a:tr>
              <a:tr h="785021">
                <a:tc>
                  <a:txBody>
                    <a:bodyPr/>
                    <a:lstStyle/>
                    <a:p>
                      <a:r>
                        <a:rPr lang="en-IN" b="1" dirty="0">
                          <a:solidFill>
                            <a:schemeClr val="tx1"/>
                          </a:solidFill>
                          <a:latin typeface="Times New Roman" panose="02020603050405020304" pitchFamily="18" charset="0"/>
                          <a:cs typeface="Times New Roman" panose="02020603050405020304" pitchFamily="18" charset="0"/>
                        </a:rPr>
                        <a:t>Control System (DCS/PLC)</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Fully automated system that regulates ammonia injection, flue gas flow, and catalyst temperature.</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1355825077"/>
                  </a:ext>
                </a:extLst>
              </a:tr>
              <a:tr h="785021">
                <a:tc>
                  <a:txBody>
                    <a:bodyPr/>
                    <a:lstStyle/>
                    <a:p>
                      <a:r>
                        <a:rPr lang="en-IN" b="1" dirty="0">
                          <a:solidFill>
                            <a:schemeClr val="tx1"/>
                          </a:solidFill>
                          <a:latin typeface="Times New Roman" panose="02020603050405020304" pitchFamily="18" charset="0"/>
                          <a:cs typeface="Times New Roman" panose="02020603050405020304" pitchFamily="18" charset="0"/>
                        </a:rPr>
                        <a:t>Air Preheater &amp; Economizer Bypass (if needed)</a:t>
                      </a:r>
                      <a:endParaRPr lang="en-IN" dirty="0">
                        <a:solidFill>
                          <a:schemeClr val="tx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pattFill prst="pct5">
                      <a:fgClr>
                        <a:schemeClr val="bg1"/>
                      </a:fgClr>
                      <a:bgClr>
                        <a:schemeClr val="bg1"/>
                      </a:bgClr>
                    </a:pattFill>
                  </a:tcPr>
                </a:tc>
                <a:tc>
                  <a:txBody>
                    <a:bodyPr/>
                    <a:lstStyle/>
                    <a:p>
                      <a:r>
                        <a:rPr lang="en-IN" dirty="0">
                          <a:solidFill>
                            <a:schemeClr val="tx1"/>
                          </a:solidFill>
                          <a:latin typeface="Times New Roman" panose="02020603050405020304" pitchFamily="18" charset="0"/>
                          <a:cs typeface="Times New Roman" panose="02020603050405020304" pitchFamily="18" charset="0"/>
                        </a:rPr>
                        <a:t>Maintains flue gas temperature within the optimal range (300–400°C) for catalytic activity [4] [5]</a:t>
                      </a:r>
                    </a:p>
                  </a:txBody>
                  <a:tcPr anchor="ctr">
                    <a:lnL>
                      <a:noFill/>
                    </a:lnL>
                    <a:lnR>
                      <a:noFill/>
                    </a:lnR>
                    <a:lnT>
                      <a:noFill/>
                    </a:lnT>
                    <a:lnB>
                      <a:noFill/>
                    </a:lnB>
                    <a:pattFill prst="pct5">
                      <a:fgClr>
                        <a:schemeClr val="bg1"/>
                      </a:fgClr>
                      <a:bgClr>
                        <a:schemeClr val="bg1"/>
                      </a:bgClr>
                    </a:pattFill>
                  </a:tcPr>
                </a:tc>
                <a:extLst>
                  <a:ext uri="{0D108BD9-81ED-4DB2-BD59-A6C34878D82A}">
                    <a16:rowId xmlns:a16="http://schemas.microsoft.com/office/drawing/2014/main" val="2149093389"/>
                  </a:ext>
                </a:extLst>
              </a:tr>
            </a:tbl>
          </a:graphicData>
        </a:graphic>
      </p:graphicFrame>
      <p:cxnSp>
        <p:nvCxnSpPr>
          <p:cNvPr id="11" name="Straight Connector 10">
            <a:extLst>
              <a:ext uri="{FF2B5EF4-FFF2-40B4-BE49-F238E27FC236}">
                <a16:creationId xmlns:a16="http://schemas.microsoft.com/office/drawing/2014/main" id="{31AF5DE5-C8EA-4A73-B321-7CB995E1E06A}"/>
              </a:ext>
            </a:extLst>
          </p:cNvPr>
          <p:cNvCxnSpPr/>
          <p:nvPr/>
        </p:nvCxnSpPr>
        <p:spPr>
          <a:xfrm>
            <a:off x="4267200" y="938352"/>
            <a:ext cx="0" cy="56477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206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631861E7-1A7A-1158-678E-155621706E8E}"/>
              </a:ext>
            </a:extLst>
          </p:cNvPr>
          <p:cNvGrpSpPr/>
          <p:nvPr/>
        </p:nvGrpSpPr>
        <p:grpSpPr>
          <a:xfrm>
            <a:off x="0" y="-1"/>
            <a:ext cx="9001125" cy="903600"/>
            <a:chOff x="0" y="-1"/>
            <a:chExt cx="9001125" cy="903600"/>
          </a:xfrm>
        </p:grpSpPr>
        <p:sp>
          <p:nvSpPr>
            <p:cNvPr id="3" name="object 4">
              <a:extLst>
                <a:ext uri="{FF2B5EF4-FFF2-40B4-BE49-F238E27FC236}">
                  <a16:creationId xmlns:a16="http://schemas.microsoft.com/office/drawing/2014/main" id="{202430A5-9260-27AA-9328-308E015FF7E3}"/>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52B9254D-0103-F51F-011C-772C1827BFB9}"/>
                </a:ext>
              </a:extLst>
            </p:cNvPr>
            <p:cNvPicPr/>
            <p:nvPr/>
          </p:nvPicPr>
          <p:blipFill>
            <a:blip r:embed="rId2" cstate="print"/>
            <a:stretch>
              <a:fillRect/>
            </a:stretch>
          </p:blipFill>
          <p:spPr>
            <a:xfrm>
              <a:off x="0" y="-1"/>
              <a:ext cx="900111" cy="903600"/>
            </a:xfrm>
            <a:prstGeom prst="rect">
              <a:avLst/>
            </a:prstGeom>
          </p:spPr>
        </p:pic>
      </p:grpSp>
      <p:sp>
        <p:nvSpPr>
          <p:cNvPr id="5" name="object 2">
            <a:extLst>
              <a:ext uri="{FF2B5EF4-FFF2-40B4-BE49-F238E27FC236}">
                <a16:creationId xmlns:a16="http://schemas.microsoft.com/office/drawing/2014/main" id="{E6BD7360-A5A3-72B9-891B-BEF094EDF453}"/>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sp>
        <p:nvSpPr>
          <p:cNvPr id="6" name="object 6">
            <a:extLst>
              <a:ext uri="{FF2B5EF4-FFF2-40B4-BE49-F238E27FC236}">
                <a16:creationId xmlns:a16="http://schemas.microsoft.com/office/drawing/2014/main" id="{EADF82FC-1D42-7936-FD5E-1404A88364CD}"/>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pic>
        <p:nvPicPr>
          <p:cNvPr id="8" name="Picture 2" descr="Wet scrubber using a limestone slurry to remove sulfur dioxide from flue gas.">
            <a:extLst>
              <a:ext uri="{FF2B5EF4-FFF2-40B4-BE49-F238E27FC236}">
                <a16:creationId xmlns:a16="http://schemas.microsoft.com/office/drawing/2014/main" id="{5106D9EE-5C82-1621-FAC1-CD4A68F66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71" y="453769"/>
            <a:ext cx="7857524" cy="5950461"/>
          </a:xfrm>
          <a:prstGeom prst="rect">
            <a:avLst/>
          </a:prstGeom>
          <a:noFill/>
        </p:spPr>
      </p:pic>
      <p:sp>
        <p:nvSpPr>
          <p:cNvPr id="10" name="TextBox 9">
            <a:extLst>
              <a:ext uri="{FF2B5EF4-FFF2-40B4-BE49-F238E27FC236}">
                <a16:creationId xmlns:a16="http://schemas.microsoft.com/office/drawing/2014/main" id="{BFE3DBF7-0BD6-A1A8-51BA-6858A2E78F5B}"/>
              </a:ext>
            </a:extLst>
          </p:cNvPr>
          <p:cNvSpPr txBox="1"/>
          <p:nvPr/>
        </p:nvSpPr>
        <p:spPr>
          <a:xfrm>
            <a:off x="2133600" y="6151255"/>
            <a:ext cx="4577080" cy="646331"/>
          </a:xfrm>
          <a:prstGeom prst="rect">
            <a:avLst/>
          </a:prstGeom>
          <a:noFill/>
        </p:spPr>
        <p:txBody>
          <a:bodyPr wrap="square">
            <a:spAutoFit/>
          </a:bodyPr>
          <a:lstStyle/>
          <a:p>
            <a:r>
              <a:rPr lang="en-US" sz="1800" b="1" dirty="0">
                <a:effectLst/>
                <a:latin typeface="Times New Roman" panose="02020603050405020304" pitchFamily="18" charset="0"/>
                <a:cs typeface="Times New Roman" panose="02020603050405020304" pitchFamily="18" charset="0"/>
              </a:rPr>
              <a:t>Fig(5)Wet scrubber using a limestone slurry to remove sulfur dioxide from flue gas. [1] </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085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3882F701-8C88-D23C-A293-BE9F69261306}"/>
              </a:ext>
            </a:extLst>
          </p:cNvPr>
          <p:cNvGrpSpPr/>
          <p:nvPr/>
        </p:nvGrpSpPr>
        <p:grpSpPr>
          <a:xfrm>
            <a:off x="0" y="-1"/>
            <a:ext cx="9001125" cy="903600"/>
            <a:chOff x="0" y="-1"/>
            <a:chExt cx="9001125" cy="903600"/>
          </a:xfrm>
        </p:grpSpPr>
        <p:sp>
          <p:nvSpPr>
            <p:cNvPr id="3" name="object 4">
              <a:extLst>
                <a:ext uri="{FF2B5EF4-FFF2-40B4-BE49-F238E27FC236}">
                  <a16:creationId xmlns:a16="http://schemas.microsoft.com/office/drawing/2014/main" id="{75CD1FFC-E421-5DA4-EC20-83D1B57FBF1B}"/>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0F1CFB99-FC05-6328-D696-8C16753EE3D1}"/>
                </a:ext>
              </a:extLst>
            </p:cNvPr>
            <p:cNvPicPr/>
            <p:nvPr/>
          </p:nvPicPr>
          <p:blipFill>
            <a:blip r:embed="rId2" cstate="print"/>
            <a:stretch>
              <a:fillRect/>
            </a:stretch>
          </p:blipFill>
          <p:spPr>
            <a:xfrm>
              <a:off x="0" y="-1"/>
              <a:ext cx="900111" cy="903600"/>
            </a:xfrm>
            <a:prstGeom prst="rect">
              <a:avLst/>
            </a:prstGeom>
          </p:spPr>
        </p:pic>
      </p:grpSp>
      <p:sp>
        <p:nvSpPr>
          <p:cNvPr id="11" name="object 2">
            <a:extLst>
              <a:ext uri="{FF2B5EF4-FFF2-40B4-BE49-F238E27FC236}">
                <a16:creationId xmlns:a16="http://schemas.microsoft.com/office/drawing/2014/main" id="{A21C5377-5AA3-F89F-41BF-2F8223F6D896}"/>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sp>
        <p:nvSpPr>
          <p:cNvPr id="12" name="object 6">
            <a:extLst>
              <a:ext uri="{FF2B5EF4-FFF2-40B4-BE49-F238E27FC236}">
                <a16:creationId xmlns:a16="http://schemas.microsoft.com/office/drawing/2014/main" id="{2A486354-8D97-87D4-E51A-23E999D45CF3}"/>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14" name="TextBox 13">
            <a:extLst>
              <a:ext uri="{FF2B5EF4-FFF2-40B4-BE49-F238E27FC236}">
                <a16:creationId xmlns:a16="http://schemas.microsoft.com/office/drawing/2014/main" id="{AA078CCE-7F76-76AF-1D9B-32106878B229}"/>
              </a:ext>
            </a:extLst>
          </p:cNvPr>
          <p:cNvSpPr txBox="1"/>
          <p:nvPr/>
        </p:nvSpPr>
        <p:spPr>
          <a:xfrm>
            <a:off x="450054" y="877556"/>
            <a:ext cx="8312945" cy="400110"/>
          </a:xfrm>
          <a:prstGeom prst="rect">
            <a:avLst/>
          </a:prstGeom>
          <a:noFill/>
        </p:spPr>
        <p:txBody>
          <a:bodyPr wrap="square">
            <a:spAutoFit/>
          </a:bodyPr>
          <a:lstStyle/>
          <a:p>
            <a:r>
              <a:rPr lang="en-US" sz="2000" b="1" u="sng" dirty="0">
                <a:latin typeface="Times New Roman" panose="02020603050405020304" pitchFamily="18" charset="0"/>
                <a:cs typeface="Times New Roman" panose="02020603050405020304" pitchFamily="18" charset="0"/>
              </a:rPr>
              <a:t>GOVERNMENT REGULATIONS FOR Sox and Nox EMISSIONS [3] [4] </a:t>
            </a:r>
            <a:endParaRPr lang="en-IN" sz="20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FD850B49-A010-150B-F6C8-9BD667C23537}"/>
              </a:ext>
            </a:extLst>
          </p:cNvPr>
          <p:cNvPicPr>
            <a:picLocks noChangeAspect="1"/>
          </p:cNvPicPr>
          <p:nvPr/>
        </p:nvPicPr>
        <p:blipFill>
          <a:blip r:embed="rId3"/>
          <a:stretch>
            <a:fillRect/>
          </a:stretch>
        </p:blipFill>
        <p:spPr>
          <a:xfrm>
            <a:off x="67236" y="1422064"/>
            <a:ext cx="9009528" cy="4658698"/>
          </a:xfrm>
          <a:prstGeom prst="rect">
            <a:avLst/>
          </a:prstGeom>
        </p:spPr>
      </p:pic>
    </p:spTree>
    <p:extLst>
      <p:ext uri="{BB962C8B-B14F-4D97-AF65-F5344CB8AC3E}">
        <p14:creationId xmlns:p14="http://schemas.microsoft.com/office/powerpoint/2010/main" val="3516241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0" y="29934"/>
            <a:ext cx="9001125" cy="904875"/>
            <a:chOff x="0" y="0"/>
            <a:chExt cx="9001125" cy="904875"/>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4875"/>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15</a:t>
            </a:fld>
            <a:endParaRPr dirty="0"/>
          </a:p>
        </p:txBody>
      </p:sp>
      <p:sp>
        <p:nvSpPr>
          <p:cNvPr id="8" name="TextBox 7">
            <a:extLst>
              <a:ext uri="{FF2B5EF4-FFF2-40B4-BE49-F238E27FC236}">
                <a16:creationId xmlns:a16="http://schemas.microsoft.com/office/drawing/2014/main" id="{9177D56D-62AE-5108-73F1-7A757106D88B}"/>
              </a:ext>
            </a:extLst>
          </p:cNvPr>
          <p:cNvSpPr txBox="1"/>
          <p:nvPr/>
        </p:nvSpPr>
        <p:spPr>
          <a:xfrm>
            <a:off x="381000" y="878413"/>
            <a:ext cx="8143874" cy="569387"/>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8. CONCLUSION </a:t>
            </a:r>
          </a:p>
        </p:txBody>
      </p:sp>
      <p:sp>
        <p:nvSpPr>
          <p:cNvPr id="13" name="Text Placeholder 12">
            <a:extLst>
              <a:ext uri="{FF2B5EF4-FFF2-40B4-BE49-F238E27FC236}">
                <a16:creationId xmlns:a16="http://schemas.microsoft.com/office/drawing/2014/main" id="{13E1DA90-7E40-3699-64DA-EAF98B96F5E6}"/>
              </a:ext>
            </a:extLst>
          </p:cNvPr>
          <p:cNvSpPr>
            <a:spLocks noGrp="1"/>
          </p:cNvSpPr>
          <p:nvPr>
            <p:ph type="body" idx="1"/>
          </p:nvPr>
        </p:nvSpPr>
        <p:spPr>
          <a:xfrm>
            <a:off x="408111" y="1395681"/>
            <a:ext cx="8624969" cy="1883657"/>
          </a:xfrm>
        </p:spPr>
        <p:txBody>
          <a:bodyPr/>
          <a:lstStyle/>
          <a:p>
            <a:pPr algn="l">
              <a:lnSpc>
                <a:spcPct val="150000"/>
              </a:lnSpc>
            </a:pPr>
            <a:r>
              <a:rPr lang="en-US" sz="1600" dirty="0">
                <a:latin typeface="Times New Roman" panose="02020603050405020304" pitchFamily="18" charset="0"/>
                <a:ea typeface="Quattrocento" pitchFamily="34" charset="-122"/>
                <a:cs typeface="Times New Roman" panose="02020603050405020304" pitchFamily="18" charset="0"/>
              </a:rPr>
              <a:t>This report has detailed the critical need for robust emission control in thermal power plants, focusing on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and NOx. The case study of thermal power plant exemplifies successful implementation of advanced Flue Gas </a:t>
            </a:r>
            <a:r>
              <a:rPr lang="en-US" sz="1600" dirty="0" err="1">
                <a:latin typeface="Times New Roman" panose="02020603050405020304" pitchFamily="18" charset="0"/>
                <a:ea typeface="Quattrocento" pitchFamily="34" charset="-122"/>
                <a:cs typeface="Times New Roman" panose="02020603050405020304" pitchFamily="18" charset="0"/>
              </a:rPr>
              <a:t>Desulphurisation</a:t>
            </a:r>
            <a:r>
              <a:rPr lang="en-US" sz="1600" dirty="0">
                <a:latin typeface="Times New Roman" panose="02020603050405020304" pitchFamily="18" charset="0"/>
                <a:ea typeface="Quattrocento" pitchFamily="34" charset="-122"/>
                <a:cs typeface="Times New Roman" panose="02020603050405020304" pitchFamily="18" charset="0"/>
              </a:rPr>
              <a:t> (FGD) technologies, demonstrating their efficiency in meeting stringent environmental standards. [6]</a:t>
            </a:r>
            <a:endParaRPr lang="en-US" sz="1600" dirty="0">
              <a:latin typeface="Times New Roman" panose="02020603050405020304" pitchFamily="18" charset="0"/>
              <a:cs typeface="Times New Roman" panose="02020603050405020304" pitchFamily="18" charset="0"/>
            </a:endParaRPr>
          </a:p>
          <a:p>
            <a:pPr>
              <a:lnSpc>
                <a:spcPct val="150000"/>
              </a:lnSpc>
            </a:pPr>
            <a:endParaRPr lang="en-US" b="0" i="0" dirty="0">
              <a:solidFill>
                <a:srgbClr val="333333"/>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F990746-0234-8212-ABE6-AB6DF29D12EE}"/>
              </a:ext>
            </a:extLst>
          </p:cNvPr>
          <p:cNvSpPr txBox="1"/>
          <p:nvPr/>
        </p:nvSpPr>
        <p:spPr>
          <a:xfrm>
            <a:off x="129655" y="2963385"/>
            <a:ext cx="4577786" cy="400110"/>
          </a:xfrm>
          <a:prstGeom prst="rect">
            <a:avLst/>
          </a:prstGeom>
          <a:noFill/>
        </p:spPr>
        <p:txBody>
          <a:bodyPr wrap="square">
            <a:spAutoFit/>
          </a:bodyPr>
          <a:lstStyle/>
          <a:p>
            <a:pPr marL="0" indent="0" algn="l">
              <a:lnSpc>
                <a:spcPts val="2350"/>
              </a:lnSpc>
              <a:buNone/>
            </a:pPr>
            <a:r>
              <a:rPr lang="en-US" b="1" dirty="0">
                <a:latin typeface="Times New Roman" panose="02020603050405020304" pitchFamily="18" charset="0"/>
                <a:ea typeface="Quattrocento" pitchFamily="34" charset="-122"/>
                <a:cs typeface="Times New Roman" panose="02020603050405020304" pitchFamily="18" charset="0"/>
              </a:rPr>
              <a:t>     </a:t>
            </a:r>
            <a:r>
              <a:rPr lang="en-US" sz="2000" b="1" dirty="0">
                <a:latin typeface="Times New Roman" panose="02020603050405020304" pitchFamily="18" charset="0"/>
                <a:ea typeface="Quattrocento" pitchFamily="34" charset="-122"/>
                <a:cs typeface="Times New Roman" panose="02020603050405020304" pitchFamily="18" charset="0"/>
              </a:rPr>
              <a:t>Key Takeaways:-</a:t>
            </a:r>
            <a:endParaRPr lang="en-US"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0B9E51A-79D4-A1F6-DCC3-CF57456734B1}"/>
              </a:ext>
            </a:extLst>
          </p:cNvPr>
          <p:cNvSpPr txBox="1"/>
          <p:nvPr/>
        </p:nvSpPr>
        <p:spPr>
          <a:xfrm>
            <a:off x="-326026" y="3293564"/>
            <a:ext cx="9144000" cy="390492"/>
          </a:xfrm>
          <a:prstGeom prst="rect">
            <a:avLst/>
          </a:prstGeom>
          <a:noFill/>
        </p:spPr>
        <p:txBody>
          <a:bodyPr wrap="square">
            <a:spAutoFit/>
          </a:bodyPr>
          <a:lstStyle/>
          <a:p>
            <a:pPr lvl="1">
              <a:lnSpc>
                <a:spcPts val="2550"/>
              </a:lnSpc>
              <a:buSzPct val="100000"/>
            </a:pPr>
            <a:r>
              <a:rPr lang="en-US" sz="1600" dirty="0">
                <a:latin typeface="Times New Roman" panose="02020603050405020304" pitchFamily="18" charset="0"/>
                <a:ea typeface="Quattrocento" pitchFamily="34" charset="-122"/>
                <a:cs typeface="Times New Roman" panose="02020603050405020304" pitchFamily="18" charset="0"/>
              </a:rPr>
              <a:t>(1) Thermal plants are major sources of </a:t>
            </a:r>
            <a:r>
              <a:rPr lang="en-US" sz="1600" dirty="0" err="1">
                <a:latin typeface="Times New Roman" panose="02020603050405020304" pitchFamily="18" charset="0"/>
                <a:ea typeface="Quattrocento" pitchFamily="34" charset="-122"/>
                <a:cs typeface="Times New Roman" panose="02020603050405020304" pitchFamily="18" charset="0"/>
              </a:rPr>
              <a:t>SOx</a:t>
            </a:r>
            <a:r>
              <a:rPr lang="en-US" sz="1600" dirty="0">
                <a:latin typeface="Times New Roman" panose="02020603050405020304" pitchFamily="18" charset="0"/>
                <a:ea typeface="Quattrocento" pitchFamily="34" charset="-122"/>
                <a:cs typeface="Times New Roman" panose="02020603050405020304" pitchFamily="18" charset="0"/>
              </a:rPr>
              <a:t> and NOx emissions.</a:t>
            </a:r>
            <a:endParaRPr lang="en-US" sz="16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0F9C6F47-624E-150D-9733-D26DD52745A9}"/>
              </a:ext>
            </a:extLst>
          </p:cNvPr>
          <p:cNvSpPr txBox="1"/>
          <p:nvPr/>
        </p:nvSpPr>
        <p:spPr>
          <a:xfrm>
            <a:off x="131584" y="3627329"/>
            <a:ext cx="8384609" cy="338554"/>
          </a:xfrm>
          <a:prstGeom prst="rect">
            <a:avLst/>
          </a:prstGeom>
          <a:noFill/>
        </p:spPr>
        <p:txBody>
          <a:bodyPr wrap="square">
            <a:spAutoFit/>
          </a:bodyPr>
          <a:lstStyle/>
          <a:p>
            <a:r>
              <a:rPr lang="en-US" sz="1600" dirty="0">
                <a:latin typeface="Times New Roman" panose="02020603050405020304" pitchFamily="18" charset="0"/>
                <a:ea typeface="Quattrocento" pitchFamily="34" charset="-122"/>
                <a:cs typeface="Times New Roman" panose="02020603050405020304" pitchFamily="18" charset="0"/>
              </a:rPr>
              <a:t>(2) These emissions significantly impact public health and ecosystems</a:t>
            </a:r>
            <a:endParaRPr lang="en-IN" sz="16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48F74D9-A4D4-463D-9DD0-E1A94CA673C1}"/>
              </a:ext>
            </a:extLst>
          </p:cNvPr>
          <p:cNvSpPr txBox="1"/>
          <p:nvPr/>
        </p:nvSpPr>
        <p:spPr>
          <a:xfrm>
            <a:off x="129655" y="3914372"/>
            <a:ext cx="7160497" cy="338554"/>
          </a:xfrm>
          <a:prstGeom prst="rect">
            <a:avLst/>
          </a:prstGeom>
          <a:noFill/>
        </p:spPr>
        <p:txBody>
          <a:bodyPr wrap="square">
            <a:spAutoFit/>
          </a:bodyPr>
          <a:lstStyle/>
          <a:p>
            <a:r>
              <a:rPr lang="en-US" sz="1600" dirty="0">
                <a:latin typeface="Times New Roman" panose="02020603050405020304" pitchFamily="18" charset="0"/>
                <a:ea typeface="Quattrocento" pitchFamily="34" charset="-122"/>
                <a:cs typeface="Times New Roman" panose="02020603050405020304" pitchFamily="18" charset="0"/>
              </a:rPr>
              <a:t>(3) Advanced control technologies like FGD are highly effective in </a:t>
            </a:r>
            <a:endParaRPr lang="en-IN" sz="16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6BD82F32-A19A-332A-074F-4E4B0486EED7}"/>
              </a:ext>
            </a:extLst>
          </p:cNvPr>
          <p:cNvSpPr txBox="1"/>
          <p:nvPr/>
        </p:nvSpPr>
        <p:spPr>
          <a:xfrm>
            <a:off x="92037" y="4182937"/>
            <a:ext cx="9143999" cy="1406732"/>
          </a:xfrm>
          <a:prstGeom prst="rect">
            <a:avLst/>
          </a:prstGeom>
          <a:noFill/>
        </p:spPr>
        <p:txBody>
          <a:bodyPr wrap="square">
            <a:spAutoFit/>
          </a:bodyPr>
          <a:lstStyle/>
          <a:p>
            <a:pPr algn="l">
              <a:lnSpc>
                <a:spcPts val="2550"/>
              </a:lnSpc>
              <a:buSzPct val="100000"/>
            </a:pPr>
            <a:r>
              <a:rPr lang="en-US" sz="1600" dirty="0">
                <a:latin typeface="Times New Roman" panose="02020603050405020304" pitchFamily="18" charset="0"/>
                <a:ea typeface="Quattrocento" pitchFamily="34" charset="-122"/>
                <a:cs typeface="Times New Roman" panose="02020603050405020304" pitchFamily="18" charset="0"/>
              </a:rPr>
              <a:t> (4) Continuous monitoring and innovative solutions are crucial for compliance</a:t>
            </a:r>
          </a:p>
          <a:p>
            <a:pPr algn="l">
              <a:lnSpc>
                <a:spcPts val="2550"/>
              </a:lnSpc>
              <a:buSzPct val="100000"/>
            </a:pPr>
            <a:endParaRPr lang="en-US" sz="1600" dirty="0">
              <a:solidFill>
                <a:srgbClr val="F9EEE7"/>
              </a:solidFill>
              <a:latin typeface="Times New Roman" panose="02020603050405020304" pitchFamily="18" charset="0"/>
              <a:ea typeface="Quattrocento" pitchFamily="34" charset="-122"/>
              <a:cs typeface="Times New Roman" panose="02020603050405020304" pitchFamily="18" charset="0"/>
            </a:endParaRPr>
          </a:p>
          <a:p>
            <a:pPr algn="l">
              <a:lnSpc>
                <a:spcPts val="2550"/>
              </a:lnSpc>
              <a:buSzPct val="100000"/>
            </a:pPr>
            <a:endParaRPr lang="en-US" sz="1600" dirty="0">
              <a:solidFill>
                <a:srgbClr val="F9EEE7"/>
              </a:solidFill>
              <a:latin typeface="Times New Roman" panose="02020603050405020304" pitchFamily="18" charset="0"/>
              <a:ea typeface="Quattrocento" pitchFamily="34" charset="-122"/>
              <a:cs typeface="Times New Roman" panose="02020603050405020304" pitchFamily="18" charset="0"/>
            </a:endParaRPr>
          </a:p>
          <a:p>
            <a:pPr algn="l">
              <a:lnSpc>
                <a:spcPts val="2550"/>
              </a:lnSpc>
              <a:buSzPct val="100000"/>
            </a:pPr>
            <a:r>
              <a:rPr lang="en-US" sz="1800" dirty="0">
                <a:solidFill>
                  <a:srgbClr val="F9EEE7"/>
                </a:solidFill>
                <a:latin typeface="Quattrocento" pitchFamily="34" charset="0"/>
                <a:ea typeface="Quattrocento" pitchFamily="34" charset="-122"/>
                <a:cs typeface="Quattrocento" pitchFamily="34" charset="-120"/>
              </a:rPr>
              <a:t>.</a:t>
            </a:r>
            <a:endParaRPr lang="en-US" sz="1800" dirty="0"/>
          </a:p>
        </p:txBody>
      </p:sp>
      <p:sp>
        <p:nvSpPr>
          <p:cNvPr id="24" name="TextBox 23">
            <a:extLst>
              <a:ext uri="{FF2B5EF4-FFF2-40B4-BE49-F238E27FC236}">
                <a16:creationId xmlns:a16="http://schemas.microsoft.com/office/drawing/2014/main" id="{74C09254-3E1B-E1FE-326A-E85283E01231}"/>
              </a:ext>
            </a:extLst>
          </p:cNvPr>
          <p:cNvSpPr txBox="1"/>
          <p:nvPr/>
        </p:nvSpPr>
        <p:spPr>
          <a:xfrm>
            <a:off x="382929" y="4557548"/>
            <a:ext cx="4797706" cy="400110"/>
          </a:xfrm>
          <a:prstGeom prst="rect">
            <a:avLst/>
          </a:prstGeom>
          <a:noFill/>
        </p:spPr>
        <p:txBody>
          <a:bodyPr wrap="square">
            <a:spAutoFit/>
          </a:bodyPr>
          <a:lstStyle/>
          <a:p>
            <a:pPr marL="0" indent="0" algn="l">
              <a:lnSpc>
                <a:spcPts val="2350"/>
              </a:lnSpc>
              <a:buNone/>
            </a:pPr>
            <a:r>
              <a:rPr lang="en-US" sz="2000" b="1" dirty="0">
                <a:latin typeface="Times New Roman" panose="02020603050405020304" pitchFamily="18" charset="0"/>
                <a:ea typeface="Quattrocento" pitchFamily="34" charset="-122"/>
                <a:cs typeface="Times New Roman" panose="02020603050405020304" pitchFamily="18" charset="0"/>
              </a:rPr>
              <a:t>Recommendations :-</a:t>
            </a:r>
            <a:endParaRPr lang="en-US" sz="2000" b="1"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0E3BD1E8-5961-3208-031B-BD52C5BD4784}"/>
              </a:ext>
            </a:extLst>
          </p:cNvPr>
          <p:cNvSpPr txBox="1"/>
          <p:nvPr/>
        </p:nvSpPr>
        <p:spPr>
          <a:xfrm>
            <a:off x="-125954" y="4892338"/>
            <a:ext cx="7822154" cy="390492"/>
          </a:xfrm>
          <a:prstGeom prst="rect">
            <a:avLst/>
          </a:prstGeom>
          <a:noFill/>
        </p:spPr>
        <p:txBody>
          <a:bodyPr wrap="square">
            <a:spAutoFit/>
          </a:bodyPr>
          <a:lstStyle/>
          <a:p>
            <a:pPr algn="l">
              <a:lnSpc>
                <a:spcPts val="2550"/>
              </a:lnSpc>
              <a:buSzPct val="100000"/>
            </a:pPr>
            <a:r>
              <a:rPr lang="en-US" sz="1600" dirty="0">
                <a:latin typeface="Times New Roman" panose="02020603050405020304" pitchFamily="18" charset="0"/>
                <a:ea typeface="Quattrocento" pitchFamily="34" charset="-122"/>
                <a:cs typeface="Times New Roman" panose="02020603050405020304" pitchFamily="18" charset="0"/>
              </a:rPr>
              <a:t>    (1) Invest in next-generation emission control technologies.</a:t>
            </a:r>
            <a:endParaRPr lang="en-US" sz="16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5E11A263-C0B4-6FE1-5985-F5444565B3F9}"/>
              </a:ext>
            </a:extLst>
          </p:cNvPr>
          <p:cNvSpPr txBox="1"/>
          <p:nvPr/>
        </p:nvSpPr>
        <p:spPr>
          <a:xfrm>
            <a:off x="-95094" y="5215831"/>
            <a:ext cx="8697961" cy="407419"/>
          </a:xfrm>
          <a:prstGeom prst="rect">
            <a:avLst/>
          </a:prstGeom>
          <a:noFill/>
        </p:spPr>
        <p:txBody>
          <a:bodyPr wrap="square">
            <a:spAutoFit/>
          </a:bodyPr>
          <a:lstStyle/>
          <a:p>
            <a:pPr algn="l">
              <a:lnSpc>
                <a:spcPts val="2550"/>
              </a:lnSpc>
              <a:buSzPct val="100000"/>
            </a:pPr>
            <a:r>
              <a:rPr lang="en-US" sz="1800" dirty="0">
                <a:solidFill>
                  <a:srgbClr val="F9EEE7"/>
                </a:solidFill>
                <a:latin typeface="Quattrocento" pitchFamily="34" charset="0"/>
                <a:ea typeface="Quattrocento" pitchFamily="34" charset="-122"/>
                <a:cs typeface="Quattrocento" pitchFamily="34" charset="-120"/>
              </a:rPr>
              <a:t>   </a:t>
            </a:r>
            <a:r>
              <a:rPr lang="en-US" sz="1600" dirty="0">
                <a:latin typeface="Times New Roman" panose="02020603050405020304" pitchFamily="18" charset="0"/>
                <a:ea typeface="Quattrocento" pitchFamily="34" charset="-122"/>
                <a:cs typeface="Times New Roman" panose="02020603050405020304" pitchFamily="18" charset="0"/>
              </a:rPr>
              <a:t>(2) Promote research into carbon capture and utilization (CCU).</a:t>
            </a:r>
            <a:endParaRPr lang="en-US" sz="16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AEE343C8-8659-7D02-10D1-15D48B069342}"/>
              </a:ext>
            </a:extLst>
          </p:cNvPr>
          <p:cNvSpPr txBox="1"/>
          <p:nvPr/>
        </p:nvSpPr>
        <p:spPr>
          <a:xfrm>
            <a:off x="-59750" y="5539324"/>
            <a:ext cx="7231755" cy="723916"/>
          </a:xfrm>
          <a:prstGeom prst="rect">
            <a:avLst/>
          </a:prstGeom>
          <a:noFill/>
        </p:spPr>
        <p:txBody>
          <a:bodyPr wrap="square">
            <a:spAutoFit/>
          </a:bodyPr>
          <a:lstStyle/>
          <a:p>
            <a:pPr algn="l">
              <a:lnSpc>
                <a:spcPts val="2550"/>
              </a:lnSpc>
              <a:buSzPct val="100000"/>
            </a:pPr>
            <a:r>
              <a:rPr lang="en-US" sz="1600" dirty="0">
                <a:latin typeface="Times New Roman" panose="02020603050405020304" pitchFamily="18" charset="0"/>
                <a:ea typeface="Quattrocento" pitchFamily="34" charset="-122"/>
                <a:cs typeface="Times New Roman" panose="02020603050405020304" pitchFamily="18" charset="0"/>
              </a:rPr>
              <a:t>   (3) Strengthen international collaborations for technology transfer.</a:t>
            </a:r>
          </a:p>
          <a:p>
            <a:pPr algn="l">
              <a:lnSpc>
                <a:spcPts val="2550"/>
              </a:lnSpc>
              <a:buSzPct val="100000"/>
            </a:pPr>
            <a:endParaRPr lang="en-US" sz="16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21607EB8-5C61-2E79-95E8-9E91BC57993B}"/>
              </a:ext>
            </a:extLst>
          </p:cNvPr>
          <p:cNvSpPr txBox="1"/>
          <p:nvPr/>
        </p:nvSpPr>
        <p:spPr>
          <a:xfrm>
            <a:off x="92036" y="5873552"/>
            <a:ext cx="6162077" cy="338554"/>
          </a:xfrm>
          <a:prstGeom prst="rect">
            <a:avLst/>
          </a:prstGeom>
          <a:noFill/>
        </p:spPr>
        <p:txBody>
          <a:bodyPr wrap="square">
            <a:spAutoFit/>
          </a:bodyPr>
          <a:lstStyle/>
          <a:p>
            <a:r>
              <a:rPr lang="en-US" sz="1600" dirty="0">
                <a:latin typeface="Times New Roman" panose="02020603050405020304" pitchFamily="18" charset="0"/>
                <a:ea typeface="Quattrocento" pitchFamily="34" charset="-122"/>
                <a:cs typeface="Times New Roman" panose="02020603050405020304" pitchFamily="18" charset="0"/>
              </a:rPr>
              <a:t>(4) Implement stricter regulatory frameworks and enforcement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4600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F86FE5B2-F10F-533E-A23A-23F756AD9E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D52F4-633C-0AF2-E919-ED16E396F06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EFD0367D-0B7D-2BAA-6453-35995030E6AE}"/>
              </a:ext>
            </a:extLst>
          </p:cNvPr>
          <p:cNvGrpSpPr/>
          <p:nvPr/>
        </p:nvGrpSpPr>
        <p:grpSpPr>
          <a:xfrm>
            <a:off x="31955" y="98861"/>
            <a:ext cx="9001125" cy="904875"/>
            <a:chOff x="0" y="0"/>
            <a:chExt cx="9001125" cy="904875"/>
          </a:xfrm>
        </p:grpSpPr>
        <p:sp>
          <p:nvSpPr>
            <p:cNvPr id="4" name="object 4">
              <a:extLst>
                <a:ext uri="{FF2B5EF4-FFF2-40B4-BE49-F238E27FC236}">
                  <a16:creationId xmlns:a16="http://schemas.microsoft.com/office/drawing/2014/main" id="{45FECCA0-64A3-6753-E500-0E84B5D10DE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B2C1D9E8-D72B-EB8E-2D8B-EA5780B392A9}"/>
                </a:ext>
              </a:extLst>
            </p:cNvPr>
            <p:cNvPicPr/>
            <p:nvPr/>
          </p:nvPicPr>
          <p:blipFill>
            <a:blip r:embed="rId2" cstate="print"/>
            <a:stretch>
              <a:fillRect/>
            </a:stretch>
          </p:blipFill>
          <p:spPr>
            <a:xfrm>
              <a:off x="0" y="0"/>
              <a:ext cx="900111" cy="904875"/>
            </a:xfrm>
            <a:prstGeom prst="rect">
              <a:avLst/>
            </a:prstGeom>
          </p:spPr>
        </p:pic>
      </p:grpSp>
      <p:sp>
        <p:nvSpPr>
          <p:cNvPr id="6" name="object 6">
            <a:extLst>
              <a:ext uri="{FF2B5EF4-FFF2-40B4-BE49-F238E27FC236}">
                <a16:creationId xmlns:a16="http://schemas.microsoft.com/office/drawing/2014/main" id="{0CD6D6BC-2D7B-BB60-B3A5-F96C183F7E6C}"/>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C4CDB516-2BF6-6A23-E9C6-0D0FE33E014A}"/>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89CB0072-0397-5A60-D2E5-C00285EACE31}"/>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16</a:t>
            </a:fld>
            <a:endParaRPr dirty="0"/>
          </a:p>
        </p:txBody>
      </p:sp>
      <p:sp>
        <p:nvSpPr>
          <p:cNvPr id="13" name="Text Placeholder 12">
            <a:extLst>
              <a:ext uri="{FF2B5EF4-FFF2-40B4-BE49-F238E27FC236}">
                <a16:creationId xmlns:a16="http://schemas.microsoft.com/office/drawing/2014/main" id="{13E1DA90-7E40-3699-64DA-EAF98B96F5E6}"/>
              </a:ext>
            </a:extLst>
          </p:cNvPr>
          <p:cNvSpPr>
            <a:spLocks noGrp="1"/>
          </p:cNvSpPr>
          <p:nvPr>
            <p:ph type="body" idx="1"/>
          </p:nvPr>
        </p:nvSpPr>
        <p:spPr>
          <a:xfrm>
            <a:off x="1066800" y="512733"/>
            <a:ext cx="8507289" cy="867995"/>
          </a:xfrm>
        </p:spPr>
        <p:txBody>
          <a:bodyPr/>
          <a:lstStyle/>
          <a:p>
            <a:pPr algn="l">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endParaRPr lang="en-US" b="0" i="0" dirty="0">
              <a:solidFill>
                <a:srgbClr val="333333"/>
              </a:solidFill>
              <a:effectLs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EC9B04C-E5F3-CB8E-39F6-39CB2C131DFA}"/>
              </a:ext>
            </a:extLst>
          </p:cNvPr>
          <p:cNvSpPr txBox="1"/>
          <p:nvPr/>
        </p:nvSpPr>
        <p:spPr>
          <a:xfrm>
            <a:off x="971548" y="488209"/>
            <a:ext cx="4786130" cy="553998"/>
          </a:xfrm>
          <a:prstGeom prst="rect">
            <a:avLst/>
          </a:prstGeom>
          <a:noFill/>
        </p:spPr>
        <p:txBody>
          <a:bodyPr wrap="square">
            <a:spAutoFit/>
          </a:bodyPr>
          <a:lstStyle/>
          <a:p>
            <a:pPr marL="12065">
              <a:lnSpc>
                <a:spcPct val="100000"/>
              </a:lnSpc>
              <a:spcBef>
                <a:spcPts val="100"/>
              </a:spcBef>
              <a:buClr>
                <a:srgbClr val="000000"/>
              </a:buClr>
              <a:buSzPct val="50000"/>
              <a:tabLst>
                <a:tab pos="347980" algn="l"/>
                <a:tab pos="349250" algn="l"/>
              </a:tabLst>
            </a:pPr>
            <a:r>
              <a:rPr lang="en-US" sz="3000" b="1" spc="-5" dirty="0">
                <a:solidFill>
                  <a:srgbClr val="0070C0"/>
                </a:solidFill>
                <a:latin typeface="Times New Roman" panose="02020603050405020304" pitchFamily="18" charset="0"/>
                <a:cs typeface="Times New Roman" panose="02020603050405020304" pitchFamily="18" charset="0"/>
              </a:rPr>
              <a:t>9. References:-</a:t>
            </a:r>
          </a:p>
        </p:txBody>
      </p:sp>
      <p:sp>
        <p:nvSpPr>
          <p:cNvPr id="18" name="Rectangle 2">
            <a:extLst>
              <a:ext uri="{FF2B5EF4-FFF2-40B4-BE49-F238E27FC236}">
                <a16:creationId xmlns:a16="http://schemas.microsoft.com/office/drawing/2014/main" id="{F4AFF880-77B1-1500-FA49-B8F8BCD395D2}"/>
              </a:ext>
            </a:extLst>
          </p:cNvPr>
          <p:cNvSpPr>
            <a:spLocks noChangeArrowheads="1"/>
          </p:cNvSpPr>
          <p:nvPr/>
        </p:nvSpPr>
        <p:spPr bwMode="auto">
          <a:xfrm>
            <a:off x="215092" y="914671"/>
            <a:ext cx="8896953"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AutoNum type="arabicParenBoth"/>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Nag, P. 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Plant Engineering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Tata McGraw-Hill Education, New Delhi, India, 2014.</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thermal power plant layout, boiler process, flue gas generation, ESP, and air pollution control methods.</a:t>
            </a:r>
          </a:p>
          <a:p>
            <a:pPr marL="342900" marR="0" lvl="0" indent="-342900" algn="l" defTabSz="914400" rtl="0" eaLnBrk="0" fontAlgn="base" latinLnBrk="0" hangingPunct="0">
              <a:lnSpc>
                <a:spcPct val="100000"/>
              </a:lnSpc>
              <a:spcBef>
                <a:spcPct val="0"/>
              </a:spcBef>
              <a:spcAft>
                <a:spcPct val="0"/>
              </a:spcAft>
              <a:buClrTx/>
              <a:buSzTx/>
              <a:buAutoNum type="arabicParenBoth"/>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Rajput, R. K.</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Thermal Engineering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Laxmi Publications, New Delhi, India, 2013.</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coal combustion, emission sources,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SOx</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NOx formation, and control techniques.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Central Pollution Control Board (CPCB), India.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“Emission Standards for Thermal Power Plants.” Ministry of Environment, Forest and Climate Change, Government of India.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Retrieved from: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https://cpcb.nic.in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emission limits, monitoring techniques, and regulatory norms.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Ministry of Environment, Forest and Climate Change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MoEFCC</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(Protection) Amendment Rules for Thermal Power Plants.” Government of India, 2015.</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Retrieved from: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https://moef.gov.in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SO₂, NOₓ, and particulate matter emission regulations.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7492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4BA64DFA-0C54-043D-8FD9-17E29B48ED2D}"/>
              </a:ext>
            </a:extLst>
          </p:cNvPr>
          <p:cNvGrpSpPr/>
          <p:nvPr/>
        </p:nvGrpSpPr>
        <p:grpSpPr>
          <a:xfrm>
            <a:off x="71437" y="76200"/>
            <a:ext cx="9001125" cy="904875"/>
            <a:chOff x="0" y="0"/>
            <a:chExt cx="9001125" cy="904875"/>
          </a:xfrm>
        </p:grpSpPr>
        <p:sp>
          <p:nvSpPr>
            <p:cNvPr id="3" name="object 4">
              <a:extLst>
                <a:ext uri="{FF2B5EF4-FFF2-40B4-BE49-F238E27FC236}">
                  <a16:creationId xmlns:a16="http://schemas.microsoft.com/office/drawing/2014/main" id="{9D55865E-F35E-6588-DB1D-93277EF68E74}"/>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4" name="object 5">
              <a:extLst>
                <a:ext uri="{FF2B5EF4-FFF2-40B4-BE49-F238E27FC236}">
                  <a16:creationId xmlns:a16="http://schemas.microsoft.com/office/drawing/2014/main" id="{98EA0F6B-3248-B464-BA61-7B8AC8460E93}"/>
                </a:ext>
              </a:extLst>
            </p:cNvPr>
            <p:cNvPicPr/>
            <p:nvPr/>
          </p:nvPicPr>
          <p:blipFill>
            <a:blip r:embed="rId2" cstate="print"/>
            <a:stretch>
              <a:fillRect/>
            </a:stretch>
          </p:blipFill>
          <p:spPr>
            <a:xfrm>
              <a:off x="0" y="0"/>
              <a:ext cx="900111" cy="904875"/>
            </a:xfrm>
            <a:prstGeom prst="rect">
              <a:avLst/>
            </a:prstGeom>
          </p:spPr>
        </p:pic>
      </p:grpSp>
      <p:sp>
        <p:nvSpPr>
          <p:cNvPr id="8" name="object 2">
            <a:extLst>
              <a:ext uri="{FF2B5EF4-FFF2-40B4-BE49-F238E27FC236}">
                <a16:creationId xmlns:a16="http://schemas.microsoft.com/office/drawing/2014/main" id="{E23ADC18-7B77-216A-9668-EFAEC8344950}"/>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sp>
        <p:nvSpPr>
          <p:cNvPr id="9" name="object 6">
            <a:extLst>
              <a:ext uri="{FF2B5EF4-FFF2-40B4-BE49-F238E27FC236}">
                <a16:creationId xmlns:a16="http://schemas.microsoft.com/office/drawing/2014/main" id="{117B2CC9-F613-3F96-571A-F5FF84A1ABB2}"/>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10" name="Rectangle 1">
            <a:extLst>
              <a:ext uri="{FF2B5EF4-FFF2-40B4-BE49-F238E27FC236}">
                <a16:creationId xmlns:a16="http://schemas.microsoft.com/office/drawing/2014/main" id="{98D6F5E5-200C-1B46-5467-0E83914FD90A}"/>
              </a:ext>
            </a:extLst>
          </p:cNvPr>
          <p:cNvSpPr>
            <a:spLocks noChangeArrowheads="1"/>
          </p:cNvSpPr>
          <p:nvPr/>
        </p:nvSpPr>
        <p:spPr bwMode="auto">
          <a:xfrm>
            <a:off x="119062" y="1100047"/>
            <a:ext cx="8763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U.S. Environmental Protection Agency (EPA).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Pollution Control Technology Fact Sheet – Flue Gas Desulfurization (FGD).”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Retrieved from: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https://www.epa.gov</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FGD system working, absorber tower, and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SOx</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removal process.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International Energy Agency (IEA).</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Emission Reduction Technologies for Fossil Fuel Power Generation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Retrieved from: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https://www.iea.org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advanced emission control technologies and global practices.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Times New Roman" panose="02020603050405020304" pitchFamily="18" charset="0"/>
                <a:cs typeface="Times New Roman" panose="02020603050405020304" pitchFamily="18" charset="0"/>
              </a:rPr>
              <a:t>(7)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Babcock &amp; Wilcox.</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Steam Power Generation and Environmental Control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ESP, FGD system components, and flue gas flow diagrams.</a:t>
            </a:r>
          </a:p>
        </p:txBody>
      </p:sp>
    </p:spTree>
    <p:extLst>
      <p:ext uri="{BB962C8B-B14F-4D97-AF65-F5344CB8AC3E}">
        <p14:creationId xmlns:p14="http://schemas.microsoft.com/office/powerpoint/2010/main" val="1480878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036FC303-8987-89C1-274F-940B531A456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BE10E6D-5333-70B7-F341-1355CA4D1B89}"/>
              </a:ext>
            </a:extLst>
          </p:cNvPr>
          <p:cNvSpPr txBox="1"/>
          <p:nvPr/>
        </p:nvSpPr>
        <p:spPr>
          <a:xfrm>
            <a:off x="1758632" y="29934"/>
            <a:ext cx="5483860" cy="299720"/>
          </a:xfrm>
          <a:prstGeom prst="rect">
            <a:avLst/>
          </a:prstGeom>
        </p:spPr>
        <p:txBody>
          <a:bodyPr vert="horz" wrap="square" lIns="0" tIns="12700" rIns="0" bIns="0" rtlCol="0">
            <a:spAutoFit/>
          </a:bodyPr>
          <a:lstStyle/>
          <a:p>
            <a:pPr marL="12700">
              <a:lnSpc>
                <a:spcPct val="100000"/>
              </a:lnSpc>
              <a:spcBef>
                <a:spcPts val="100"/>
              </a:spcBef>
            </a:pPr>
            <a:r>
              <a:rPr sz="1800" b="1" i="1" spc="-5" dirty="0">
                <a:latin typeface="Times New Roman"/>
                <a:cs typeface="Times New Roman"/>
              </a:rPr>
              <a:t>Madan</a:t>
            </a:r>
            <a:r>
              <a:rPr sz="1800" b="1" i="1" spc="-10" dirty="0">
                <a:latin typeface="Times New Roman"/>
                <a:cs typeface="Times New Roman"/>
              </a:rPr>
              <a:t> </a:t>
            </a:r>
            <a:r>
              <a:rPr sz="1800" b="1" i="1" spc="-5" dirty="0">
                <a:latin typeface="Times New Roman"/>
                <a:cs typeface="Times New Roman"/>
              </a:rPr>
              <a:t>Mohan</a:t>
            </a:r>
            <a:r>
              <a:rPr sz="1800" b="1" i="1" spc="-10" dirty="0">
                <a:latin typeface="Times New Roman"/>
                <a:cs typeface="Times New Roman"/>
              </a:rPr>
              <a:t> </a:t>
            </a:r>
            <a:r>
              <a:rPr sz="1800" b="1" i="1" spc="-5" dirty="0">
                <a:latin typeface="Times New Roman"/>
                <a:cs typeface="Times New Roman"/>
              </a:rPr>
              <a:t>Malaviya </a:t>
            </a:r>
            <a:r>
              <a:rPr sz="1800" b="1" i="1" spc="-20" dirty="0">
                <a:latin typeface="Times New Roman"/>
                <a:cs typeface="Times New Roman"/>
              </a:rPr>
              <a:t>Univ.</a:t>
            </a:r>
            <a:r>
              <a:rPr sz="1800" b="1" i="1" spc="-5" dirty="0">
                <a:latin typeface="Times New Roman"/>
                <a:cs typeface="Times New Roman"/>
              </a:rPr>
              <a:t> </a:t>
            </a:r>
            <a:r>
              <a:rPr sz="1800" b="1" i="1" dirty="0">
                <a:latin typeface="Times New Roman"/>
                <a:cs typeface="Times New Roman"/>
              </a:rPr>
              <a:t>of</a:t>
            </a:r>
            <a:r>
              <a:rPr sz="1800" b="1" i="1" spc="-5" dirty="0">
                <a:latin typeface="Times New Roman"/>
                <a:cs typeface="Times New Roman"/>
              </a:rPr>
              <a:t> </a:t>
            </a:r>
            <a:r>
              <a:rPr sz="1800" b="1" i="1" spc="-30" dirty="0">
                <a:latin typeface="Times New Roman"/>
                <a:cs typeface="Times New Roman"/>
              </a:rPr>
              <a:t>Technology,</a:t>
            </a:r>
            <a:r>
              <a:rPr sz="1800" b="1" i="1" dirty="0">
                <a:latin typeface="Times New Roman"/>
                <a:cs typeface="Times New Roman"/>
              </a:rPr>
              <a:t> </a:t>
            </a:r>
            <a:r>
              <a:rPr sz="1800" b="1" i="1" spc="-5" dirty="0">
                <a:latin typeface="Times New Roman"/>
                <a:cs typeface="Times New Roman"/>
              </a:rPr>
              <a:t>Gorakhpur</a:t>
            </a:r>
            <a:endParaRPr sz="1800" dirty="0">
              <a:latin typeface="Times New Roman"/>
              <a:cs typeface="Times New Roman"/>
            </a:endParaRPr>
          </a:p>
        </p:txBody>
      </p:sp>
      <p:grpSp>
        <p:nvGrpSpPr>
          <p:cNvPr id="3" name="object 3">
            <a:extLst>
              <a:ext uri="{FF2B5EF4-FFF2-40B4-BE49-F238E27FC236}">
                <a16:creationId xmlns:a16="http://schemas.microsoft.com/office/drawing/2014/main" id="{9703EC7A-B947-4D01-3565-68740B0B72F1}"/>
              </a:ext>
            </a:extLst>
          </p:cNvPr>
          <p:cNvGrpSpPr/>
          <p:nvPr/>
        </p:nvGrpSpPr>
        <p:grpSpPr>
          <a:xfrm>
            <a:off x="0" y="0"/>
            <a:ext cx="9001125" cy="904875"/>
            <a:chOff x="0" y="0"/>
            <a:chExt cx="9001125" cy="904875"/>
          </a:xfrm>
        </p:grpSpPr>
        <p:sp>
          <p:nvSpPr>
            <p:cNvPr id="4" name="object 4">
              <a:extLst>
                <a:ext uri="{FF2B5EF4-FFF2-40B4-BE49-F238E27FC236}">
                  <a16:creationId xmlns:a16="http://schemas.microsoft.com/office/drawing/2014/main" id="{7092110E-4824-B250-2549-90427EF81D02}"/>
                </a:ext>
              </a:extLst>
            </p:cNvPr>
            <p:cNvSpPr/>
            <p:nvPr/>
          </p:nvSpPr>
          <p:spPr>
            <a:xfrm>
              <a:off x="857250" y="357186"/>
              <a:ext cx="8143875" cy="1905"/>
            </a:xfrm>
            <a:custGeom>
              <a:avLst/>
              <a:gdLst/>
              <a:ahLst/>
              <a:cxnLst/>
              <a:rect l="l" t="t" r="r" b="b"/>
              <a:pathLst>
                <a:path w="8143875" h="1904">
                  <a:moveTo>
                    <a:pt x="0" y="0"/>
                  </a:moveTo>
                  <a:lnTo>
                    <a:pt x="8143799" y="1499"/>
                  </a:lnTo>
                </a:path>
              </a:pathLst>
            </a:custGeom>
            <a:ln w="9524">
              <a:solidFill>
                <a:srgbClr val="C00000"/>
              </a:solidFill>
            </a:ln>
          </p:spPr>
          <p:txBody>
            <a:bodyPr wrap="square" lIns="0" tIns="0" rIns="0" bIns="0" rtlCol="0"/>
            <a:lstStyle/>
            <a:p>
              <a:endParaRPr dirty="0"/>
            </a:p>
          </p:txBody>
        </p:sp>
        <p:pic>
          <p:nvPicPr>
            <p:cNvPr id="5" name="object 5">
              <a:extLst>
                <a:ext uri="{FF2B5EF4-FFF2-40B4-BE49-F238E27FC236}">
                  <a16:creationId xmlns:a16="http://schemas.microsoft.com/office/drawing/2014/main" id="{DB64DBEB-7B01-3590-5769-9699A31E6425}"/>
                </a:ext>
              </a:extLst>
            </p:cNvPr>
            <p:cNvPicPr/>
            <p:nvPr/>
          </p:nvPicPr>
          <p:blipFill>
            <a:blip r:embed="rId2" cstate="print"/>
            <a:stretch>
              <a:fillRect/>
            </a:stretch>
          </p:blipFill>
          <p:spPr>
            <a:xfrm>
              <a:off x="0" y="0"/>
              <a:ext cx="900111" cy="904875"/>
            </a:xfrm>
            <a:prstGeom prst="rect">
              <a:avLst/>
            </a:prstGeom>
          </p:spPr>
        </p:pic>
      </p:grpSp>
      <p:sp>
        <p:nvSpPr>
          <p:cNvPr id="6" name="object 6">
            <a:extLst>
              <a:ext uri="{FF2B5EF4-FFF2-40B4-BE49-F238E27FC236}">
                <a16:creationId xmlns:a16="http://schemas.microsoft.com/office/drawing/2014/main" id="{49AD042F-FD7C-FA42-9FF3-13E7D8C65EA3}"/>
              </a:ext>
            </a:extLst>
          </p:cNvPr>
          <p:cNvSpPr/>
          <p:nvPr/>
        </p:nvSpPr>
        <p:spPr>
          <a:xfrm>
            <a:off x="0" y="6705600"/>
            <a:ext cx="9144000" cy="1905"/>
          </a:xfrm>
          <a:custGeom>
            <a:avLst/>
            <a:gdLst/>
            <a:ahLst/>
            <a:cxnLst/>
            <a:rect l="l" t="t" r="r" b="b"/>
            <a:pathLst>
              <a:path w="9144000" h="1904">
                <a:moveTo>
                  <a:pt x="0" y="0"/>
                </a:moveTo>
                <a:lnTo>
                  <a:pt x="9143999" y="1499"/>
                </a:lnTo>
              </a:path>
            </a:pathLst>
          </a:custGeom>
          <a:ln w="9524">
            <a:solidFill>
              <a:srgbClr val="00B050"/>
            </a:solidFill>
          </a:ln>
        </p:spPr>
        <p:txBody>
          <a:bodyPr wrap="square" lIns="0" tIns="0" rIns="0" bIns="0" rtlCol="0"/>
          <a:lstStyle/>
          <a:p>
            <a:endParaRPr dirty="0"/>
          </a:p>
        </p:txBody>
      </p:sp>
      <p:sp>
        <p:nvSpPr>
          <p:cNvPr id="9" name="object 9">
            <a:extLst>
              <a:ext uri="{FF2B5EF4-FFF2-40B4-BE49-F238E27FC236}">
                <a16:creationId xmlns:a16="http://schemas.microsoft.com/office/drawing/2014/main" id="{DFA5D520-D32D-80A7-8C0E-06AF50E39560}"/>
              </a:ext>
            </a:extLst>
          </p:cNvPr>
          <p:cNvSpPr txBox="1"/>
          <p:nvPr/>
        </p:nvSpPr>
        <p:spPr>
          <a:xfrm>
            <a:off x="530225" y="6432455"/>
            <a:ext cx="70485" cy="153670"/>
          </a:xfrm>
          <a:prstGeom prst="rect">
            <a:avLst/>
          </a:prstGeom>
        </p:spPr>
        <p:txBody>
          <a:bodyPr vert="horz" wrap="square" lIns="0" tIns="1905" rIns="0" bIns="0" rtlCol="0">
            <a:spAutoFit/>
          </a:bodyPr>
          <a:lstStyle/>
          <a:p>
            <a:pPr marL="12700">
              <a:lnSpc>
                <a:spcPct val="100000"/>
              </a:lnSpc>
              <a:spcBef>
                <a:spcPts val="15"/>
              </a:spcBef>
            </a:pPr>
            <a:r>
              <a:rPr sz="900" dirty="0">
                <a:solidFill>
                  <a:srgbClr val="CCCCCC"/>
                </a:solidFill>
                <a:latin typeface="Arial MT"/>
                <a:cs typeface="Arial MT"/>
              </a:rPr>
              <a:t>*</a:t>
            </a:r>
            <a:endParaRPr sz="900" dirty="0">
              <a:latin typeface="Arial MT"/>
              <a:cs typeface="Arial MT"/>
            </a:endParaRPr>
          </a:p>
        </p:txBody>
      </p:sp>
      <p:sp>
        <p:nvSpPr>
          <p:cNvPr id="10" name="object 10">
            <a:extLst>
              <a:ext uri="{FF2B5EF4-FFF2-40B4-BE49-F238E27FC236}">
                <a16:creationId xmlns:a16="http://schemas.microsoft.com/office/drawing/2014/main" id="{A9244711-AFB3-361C-BC2D-97F9C93C81FD}"/>
              </a:ext>
            </a:extLst>
          </p:cNvPr>
          <p:cNvSpPr txBox="1">
            <a:spLocks noGrp="1"/>
          </p:cNvSpPr>
          <p:nvPr>
            <p:ph type="sldNum" sz="quarter" idx="7"/>
          </p:nvPr>
        </p:nvSpPr>
        <p:spPr>
          <a:xfrm>
            <a:off x="8602868" y="6704407"/>
            <a:ext cx="430212" cy="153988"/>
          </a:xfrm>
        </p:spPr>
        <p:txBody>
          <a:bodyPr vert="horz" wrap="square" lIns="0" tIns="1905" rIns="0" bIns="0" rtlCol="0">
            <a:spAutoFit/>
          </a:bodyPr>
          <a:lstStyle/>
          <a:p>
            <a:r>
              <a:rPr lang="en-IN" dirty="0"/>
              <a:t>Side </a:t>
            </a:r>
            <a:fld id="{81D60167-4931-47E6-BA6A-407CBD079E47}" type="slidenum">
              <a:rPr dirty="0"/>
              <a:pPr/>
              <a:t>18</a:t>
            </a:fld>
            <a:endParaRPr dirty="0"/>
          </a:p>
        </p:txBody>
      </p:sp>
      <p:pic>
        <p:nvPicPr>
          <p:cNvPr id="12" name="Picture 11">
            <a:extLst>
              <a:ext uri="{FF2B5EF4-FFF2-40B4-BE49-F238E27FC236}">
                <a16:creationId xmlns:a16="http://schemas.microsoft.com/office/drawing/2014/main" id="{C94F2A51-A587-8E37-9335-F1FE0039CB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904874"/>
            <a:ext cx="9067800" cy="5045439"/>
          </a:xfrm>
          <a:prstGeom prst="rect">
            <a:avLst/>
          </a:prstGeom>
        </p:spPr>
      </p:pic>
    </p:spTree>
    <p:extLst>
      <p:ext uri="{BB962C8B-B14F-4D97-AF65-F5344CB8AC3E}">
        <p14:creationId xmlns:p14="http://schemas.microsoft.com/office/powerpoint/2010/main" val="177366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30A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22709</TotalTime>
  <Words>1905</Words>
  <Application>Microsoft Office PowerPoint</Application>
  <PresentationFormat>On-screen Show (4:3)</PresentationFormat>
  <Paragraphs>207</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MT</vt:lpstr>
      <vt:lpstr>Calibri</vt:lpstr>
      <vt:lpstr>Georgia</vt:lpstr>
      <vt:lpstr>Quattrocento</vt:lpstr>
      <vt:lpstr>Tahoma</vt:lpstr>
      <vt:lpstr>Times New Roman</vt:lpstr>
      <vt:lpstr>Office Theme</vt:lpstr>
      <vt:lpstr>A Seminar Presentation  on EMISSION OF FLUE GASES IN THERMAL POWWR PLANT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monu (1)</dc:title>
  <dc:creator>Harshvardhan Raj</dc:creator>
  <cp:lastModifiedBy>shivamnayak954856@outlook.com</cp:lastModifiedBy>
  <cp:revision>49</cp:revision>
  <dcterms:created xsi:type="dcterms:W3CDTF">2024-02-04T18:39:27Z</dcterms:created>
  <dcterms:modified xsi:type="dcterms:W3CDTF">2026-01-12T06:40:21Z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